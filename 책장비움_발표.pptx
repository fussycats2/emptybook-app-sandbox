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858000" cy="6858000"/>
          </a:xfrm>
          <a:prstGeom prst="rect">
            <a:avLst/>
          </a:prstGeom>
          <a:solidFill>
            <a:srgbClr val="F7F4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858000" y="0"/>
            <a:ext cx="5333695" cy="6858000"/>
          </a:xfrm>
          <a:prstGeom prst="rect">
            <a:avLst/>
          </a:prstGeom>
          <a:solidFill>
            <a:srgbClr val="2D5F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82296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D9695A"/>
                </a:solidFill>
                <a:latin typeface="Pretendard"/>
              </a:rPr>
              <a:t>EMPTYBOOK · 팀 프로젝트 발표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463040"/>
            <a:ext cx="640080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200" b="1">
                <a:solidFill>
                  <a:srgbClr val="1A2620"/>
                </a:solidFill>
                <a:latin typeface="Pretendard"/>
              </a:rPr>
              <a:t>책장비움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200400"/>
            <a:ext cx="6400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0">
                <a:solidFill>
                  <a:srgbClr val="5C6B63"/>
                </a:solidFill>
                <a:latin typeface="Pretendard"/>
              </a:rPr>
              <a:t>EmptyBook — 내 책장을 비우고 이웃과 나누는 중고 도서 거래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4114800"/>
            <a:ext cx="1554480" cy="365760"/>
          </a:xfrm>
          <a:prstGeom prst="roundRect">
            <a:avLst>
              <a:gd name="adj" fmla="val 50000"/>
            </a:avLst>
          </a:prstGeom>
          <a:solidFill>
            <a:srgbClr val="E6EF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0000" rIns="70000" tIns="0" bIns="0" wrap="none"/>
          <a:lstStyle/>
          <a:p>
            <a:pPr algn="ctr"/>
            <a:r>
              <a:rPr sz="1100" b="1">
                <a:solidFill>
                  <a:srgbClr val="2D5F4A"/>
                </a:solidFill>
                <a:latin typeface="Pretendard"/>
              </a:rPr>
              <a:t>모바일 퍼스트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514600" y="4114800"/>
            <a:ext cx="1371600" cy="365760"/>
          </a:xfrm>
          <a:prstGeom prst="roundRect">
            <a:avLst>
              <a:gd name="adj" fmla="val 50000"/>
            </a:avLst>
          </a:prstGeom>
          <a:solidFill>
            <a:srgbClr val="E6EF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0000" rIns="70000" tIns="0" bIns="0" wrap="none"/>
          <a:lstStyle/>
          <a:p>
            <a:pPr algn="ctr"/>
            <a:r>
              <a:rPr sz="1100" b="1">
                <a:solidFill>
                  <a:srgbClr val="2D5F4A"/>
                </a:solidFill>
                <a:latin typeface="Pretendard"/>
              </a:rPr>
              <a:t>실시간 채팅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023360" y="4114800"/>
            <a:ext cx="1188720" cy="365760"/>
          </a:xfrm>
          <a:prstGeom prst="roundRect">
            <a:avLst>
              <a:gd name="adj" fmla="val 50000"/>
            </a:avLst>
          </a:prstGeom>
          <a:solidFill>
            <a:srgbClr val="E6EF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0000" rIns="70000" tIns="0" bIns="0" wrap="none"/>
          <a:lstStyle/>
          <a:p>
            <a:pPr algn="ctr"/>
            <a:r>
              <a:rPr sz="1100" b="1">
                <a:solidFill>
                  <a:srgbClr val="2D5F4A"/>
                </a:solidFill>
                <a:latin typeface="Pretendard"/>
              </a:rPr>
              <a:t>독서 + 거래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5120640"/>
            <a:ext cx="6400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94A099"/>
                </a:solidFill>
                <a:latin typeface="Pretendard"/>
              </a:rPr>
              <a:t>[부트캠프 이름] [기수]   ·   [발표일]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5486400"/>
            <a:ext cx="6400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5C6B63"/>
                </a:solidFill>
                <a:latin typeface="Pretendard"/>
              </a:rPr>
              <a:t>팀원 [팀원1] · [팀원2] · [팀원3]</a:t>
            </a:r>
          </a:p>
        </p:txBody>
      </p:sp>
      <p:pic>
        <p:nvPicPr>
          <p:cNvPr id="13" name="Picture 12" descr="mockup_ho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0" y="731520"/>
            <a:ext cx="2811298" cy="539496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315200" y="6217920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0">
                <a:solidFill>
                  <a:srgbClr val="FFFFFF"/>
                </a:solidFill>
                <a:latin typeface="Pretendard"/>
              </a:rPr>
              <a:t>v10  ·  2026.05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27432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>
                <a:solidFill>
                  <a:srgbClr val="94A099"/>
                </a:solidFill>
                <a:latin typeface="Pretendard"/>
              </a:rPr>
              <a:t>책장비움  ·  EmptyBook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247120" y="6492240"/>
            <a:ext cx="822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>
                <a:solidFill>
                  <a:srgbClr val="94A099"/>
                </a:solidFill>
                <a:latin typeface="Pretendard"/>
              </a:rPr>
              <a:t>01 / 16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10972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D9695A"/>
                </a:solidFill>
                <a:latin typeface="Pretendard"/>
              </a:rPr>
              <a:t>01  ·  WHY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51560"/>
            <a:ext cx="100584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3600" b="1">
                <a:solidFill>
                  <a:srgbClr val="1A2620"/>
                </a:solidFill>
                <a:latin typeface="Pretendard"/>
              </a:rPr>
              <a:t>왜 이 도메인을 골랐는가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82880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>
                <a:solidFill>
                  <a:srgbClr val="5C6B63"/>
                </a:solidFill>
                <a:latin typeface="Pretendard"/>
              </a:rPr>
              <a:t>부트캠프 취지에 맞게 CRUD 전 사이클을 풀스택으로 다루는 도메인이 필요했다.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2331720"/>
            <a:ext cx="914400" cy="25400"/>
          </a:xfrm>
          <a:prstGeom prst="rect">
            <a:avLst/>
          </a:prstGeom>
          <a:solidFill>
            <a:srgbClr val="D969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40080" y="2697480"/>
            <a:ext cx="5303520" cy="35661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2971800"/>
            <a:ext cx="47548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D9695A"/>
                </a:solidFill>
                <a:latin typeface="Pretendard"/>
              </a:rPr>
              <a:t>도메인 선정 기준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3337560"/>
            <a:ext cx="4754880" cy="274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400" b="0">
                <a:solidFill>
                  <a:srgbClr val="1A2620"/>
                </a:solidFill>
                <a:latin typeface="Pretendard"/>
              </a:rPr>
              <a:t>✔  Create  ·  도서 등록 (사진 / ISBN 자동 채움 / 상태 등급)</a:t>
            </a:r>
          </a:p>
          <a:p>
            <a:pPr algn="l">
              <a:lnSpc>
                <a:spcPct val="150000"/>
              </a:lnSpc>
            </a:pPr>
            <a:r>
              <a:rPr sz="1400" b="0">
                <a:solidFill>
                  <a:srgbClr val="1A2620"/>
                </a:solidFill>
                <a:latin typeface="Pretendard"/>
              </a:rPr>
              <a:t>✔  Read    ·  홈 피드 / 검색 / 필터 / 상세</a:t>
            </a:r>
          </a:p>
          <a:p>
            <a:pPr algn="l">
              <a:lnSpc>
                <a:spcPct val="150000"/>
              </a:lnSpc>
            </a:pPr>
            <a:r>
              <a:rPr sz="1400" b="0">
                <a:solidFill>
                  <a:srgbClr val="1A2620"/>
                </a:solidFill>
                <a:latin typeface="Pretendard"/>
              </a:rPr>
              <a:t>✔  Update  ·  가격·상태·예약·판매취소</a:t>
            </a:r>
          </a:p>
          <a:p>
            <a:pPr algn="l">
              <a:lnSpc>
                <a:spcPct val="150000"/>
              </a:lnSpc>
            </a:pPr>
            <a:r>
              <a:rPr sz="1400" b="0">
                <a:solidFill>
                  <a:srgbClr val="1A2620"/>
                </a:solidFill>
                <a:latin typeface="Pretendard"/>
              </a:rPr>
              <a:t>✔  Delete  ·  매물 영구 삭제 + Storage 정리</a:t>
            </a:r>
          </a:p>
          <a:p>
            <a:pPr algn="l">
              <a:lnSpc>
                <a:spcPct val="150000"/>
              </a:lnSpc>
            </a:pPr>
            <a:r>
              <a:rPr sz="1400" b="0">
                <a:solidFill>
                  <a:srgbClr val="1A2620"/>
                </a:solidFill>
                <a:latin typeface="Pretendard"/>
              </a:rPr>
              <a:t/>
            </a:r>
          </a:p>
          <a:p>
            <a:pPr algn="l">
              <a:lnSpc>
                <a:spcPct val="150000"/>
              </a:lnSpc>
            </a:pPr>
            <a:r>
              <a:rPr sz="1400" b="0">
                <a:solidFill>
                  <a:srgbClr val="1A2620"/>
                </a:solidFill>
                <a:latin typeface="Pretendard"/>
              </a:rPr>
              <a:t>+ 실시간 채팅 / 알림 / 결제 거래 FSM 까지 자연스럽게 확장</a:t>
            </a:r>
          </a:p>
          <a:p>
            <a:pPr algn="l">
              <a:lnSpc>
                <a:spcPct val="150000"/>
              </a:lnSpc>
            </a:pPr>
            <a:r>
              <a:rPr sz="1400" b="0">
                <a:solidFill>
                  <a:srgbClr val="1A2620"/>
                </a:solidFill>
                <a:latin typeface="Pretendard"/>
              </a:rPr>
              <a:t>+ 모바일 퍼스트 모바일 웹 — 부트캠프 권장 스택 그대로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55080" y="2743200"/>
            <a:ext cx="2606040" cy="1554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583680" y="2971800"/>
            <a:ext cx="914400" cy="347472"/>
          </a:xfrm>
          <a:prstGeom prst="roundRect">
            <a:avLst>
              <a:gd name="adj" fmla="val 50000"/>
            </a:avLst>
          </a:prstGeom>
          <a:solidFill>
            <a:srgbClr val="E6EF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0000" rIns="70000" tIns="0" bIns="0" wrap="none"/>
          <a:lstStyle/>
          <a:p>
            <a:pPr algn="ctr"/>
            <a:r>
              <a:rPr sz="1100" b="1">
                <a:solidFill>
                  <a:srgbClr val="2D5F4A"/>
                </a:solidFill>
                <a:latin typeface="Pretendard"/>
              </a:rPr>
              <a:t>Create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3429000"/>
            <a:ext cx="22860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1">
                <a:solidFill>
                  <a:srgbClr val="1A2620"/>
                </a:solidFill>
                <a:latin typeface="Pretendard"/>
              </a:rPr>
              <a:t>/register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44000" y="2743200"/>
            <a:ext cx="2606040" cy="1554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9372600" y="2971800"/>
            <a:ext cx="914400" cy="347472"/>
          </a:xfrm>
          <a:prstGeom prst="roundRect">
            <a:avLst>
              <a:gd name="adj" fmla="val 50000"/>
            </a:avLst>
          </a:prstGeom>
          <a:solidFill>
            <a:srgbClr val="E6EF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0000" rIns="70000" tIns="0" bIns="0" wrap="none"/>
          <a:lstStyle/>
          <a:p>
            <a:pPr algn="ctr"/>
            <a:r>
              <a:rPr sz="1100" b="1">
                <a:solidFill>
                  <a:srgbClr val="2D5F4A"/>
                </a:solidFill>
                <a:latin typeface="Pretendard"/>
              </a:rPr>
              <a:t>Read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72600" y="3429000"/>
            <a:ext cx="22860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1">
                <a:solidFill>
                  <a:srgbClr val="1A2620"/>
                </a:solidFill>
                <a:latin typeface="Pretendard"/>
              </a:rPr>
              <a:t>/home  /search  /books/[id]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55080" y="4526280"/>
            <a:ext cx="2606040" cy="1554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583680" y="4754880"/>
            <a:ext cx="914400" cy="347472"/>
          </a:xfrm>
          <a:prstGeom prst="roundRect">
            <a:avLst>
              <a:gd name="adj" fmla="val 50000"/>
            </a:avLst>
          </a:prstGeom>
          <a:solidFill>
            <a:srgbClr val="FBE8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0000" rIns="70000" tIns="0" bIns="0" wrap="none"/>
          <a:lstStyle/>
          <a:p>
            <a:pPr algn="ctr"/>
            <a:r>
              <a:rPr sz="1100" b="1">
                <a:solidFill>
                  <a:srgbClr val="D9695A"/>
                </a:solidFill>
                <a:latin typeface="Pretendard"/>
              </a:rPr>
              <a:t>Update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5212080"/>
            <a:ext cx="22860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1">
                <a:solidFill>
                  <a:srgbClr val="1A2620"/>
                </a:solidFill>
                <a:latin typeface="Pretendard"/>
              </a:rPr>
              <a:t>/books/[id]  편집·예약·취소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144000" y="4526280"/>
            <a:ext cx="2606040" cy="1554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9372600" y="4754880"/>
            <a:ext cx="914400" cy="347472"/>
          </a:xfrm>
          <a:prstGeom prst="roundRect">
            <a:avLst>
              <a:gd name="adj" fmla="val 50000"/>
            </a:avLst>
          </a:prstGeom>
          <a:solidFill>
            <a:srgbClr val="FBE8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0000" rIns="70000" tIns="0" bIns="0" wrap="none"/>
          <a:lstStyle/>
          <a:p>
            <a:pPr algn="ctr"/>
            <a:r>
              <a:rPr sz="1100" b="1">
                <a:solidFill>
                  <a:srgbClr val="D9695A"/>
                </a:solidFill>
                <a:latin typeface="Pretendard"/>
              </a:rPr>
              <a:t>Delete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72600" y="5212080"/>
            <a:ext cx="22860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1">
                <a:solidFill>
                  <a:srgbClr val="1A2620"/>
                </a:solidFill>
                <a:latin typeface="Pretendard"/>
              </a:rPr>
              <a:t>/books/[id]  삭제 + Storage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" y="27432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>
                <a:solidFill>
                  <a:srgbClr val="94A099"/>
                </a:solidFill>
                <a:latin typeface="Pretendard"/>
              </a:rPr>
              <a:t>책장비움  ·  EmptyBook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247120" y="6492240"/>
            <a:ext cx="822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>
                <a:solidFill>
                  <a:srgbClr val="94A099"/>
                </a:solidFill>
                <a:latin typeface="Pretendard"/>
              </a:rPr>
              <a:t>02 / 16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10972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D9695A"/>
                </a:solidFill>
                <a:latin typeface="Pretendard"/>
              </a:rPr>
              <a:t>02  ·  WHAT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51560"/>
            <a:ext cx="100584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3600" b="1">
                <a:solidFill>
                  <a:srgbClr val="1A2620"/>
                </a:solidFill>
                <a:latin typeface="Pretendard"/>
              </a:rPr>
              <a:t>솔루션 한 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82880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>
                <a:solidFill>
                  <a:srgbClr val="5C6B63"/>
                </a:solidFill>
                <a:latin typeface="Pretendard"/>
              </a:rPr>
              <a:t>사진 한 장으로 등록하고, 채팅으로 바로 만나는 동네 책장.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2331720"/>
            <a:ext cx="914400" cy="25400"/>
          </a:xfrm>
          <a:prstGeom prst="rect">
            <a:avLst/>
          </a:prstGeom>
          <a:solidFill>
            <a:srgbClr val="D969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2743200"/>
            <a:ext cx="731520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2600" b="1">
                <a:solidFill>
                  <a:srgbClr val="1A2620"/>
                </a:solidFill>
                <a:latin typeface="Pretendard"/>
              </a:rPr>
              <a:t>당근마켓 스타일의 UX 패턴과</a:t>
            </a:r>
          </a:p>
          <a:p>
            <a:pPr algn="l">
              <a:lnSpc>
                <a:spcPct val="135000"/>
              </a:lnSpc>
            </a:pPr>
            <a:r>
              <a:rPr sz="2600" b="1">
                <a:solidFill>
                  <a:srgbClr val="1A2620"/>
                </a:solidFill>
                <a:latin typeface="Pretendard"/>
              </a:rPr>
              <a:t>독서 기록(책장) 도메인이 통합된 모바일 웹.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4754880"/>
            <a:ext cx="2194560" cy="457200"/>
          </a:xfrm>
          <a:prstGeom prst="roundRect">
            <a:avLst>
              <a:gd name="adj" fmla="val 50000"/>
            </a:avLst>
          </a:prstGeom>
          <a:solidFill>
            <a:srgbClr val="E6EF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0000" rIns="70000" tIns="0" bIns="0" wrap="none"/>
          <a:lstStyle/>
          <a:p>
            <a:pPr algn="ctr"/>
            <a:r>
              <a:rPr sz="1200" b="1">
                <a:solidFill>
                  <a:srgbClr val="2D5F4A"/>
                </a:solidFill>
                <a:latin typeface="Pretendard"/>
              </a:rPr>
              <a:t>모바일 퍼스트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017520" y="4754880"/>
            <a:ext cx="2194560" cy="457200"/>
          </a:xfrm>
          <a:prstGeom prst="roundRect">
            <a:avLst>
              <a:gd name="adj" fmla="val 50000"/>
            </a:avLst>
          </a:prstGeom>
          <a:solidFill>
            <a:srgbClr val="E6EF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0000" rIns="70000" tIns="0" bIns="0" wrap="none"/>
          <a:lstStyle/>
          <a:p>
            <a:pPr algn="ctr"/>
            <a:r>
              <a:rPr sz="1200" b="1">
                <a:solidFill>
                  <a:srgbClr val="2D5F4A"/>
                </a:solidFill>
                <a:latin typeface="Pretendard"/>
              </a:rPr>
              <a:t>실시간 Realtime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394960" y="4754880"/>
            <a:ext cx="2194560" cy="457200"/>
          </a:xfrm>
          <a:prstGeom prst="roundRect">
            <a:avLst>
              <a:gd name="adj" fmla="val 50000"/>
            </a:avLst>
          </a:prstGeom>
          <a:solidFill>
            <a:srgbClr val="E6EF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0000" rIns="70000" tIns="0" bIns="0" wrap="none"/>
          <a:lstStyle/>
          <a:p>
            <a:pPr algn="ctr"/>
            <a:r>
              <a:rPr sz="1200" b="1">
                <a:solidFill>
                  <a:srgbClr val="2D5F4A"/>
                </a:solidFill>
                <a:latin typeface="Pretendard"/>
              </a:rPr>
              <a:t>Supabase RLS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5349240"/>
            <a:ext cx="2194560" cy="457200"/>
          </a:xfrm>
          <a:prstGeom prst="roundRect">
            <a:avLst>
              <a:gd name="adj" fmla="val 50000"/>
            </a:avLst>
          </a:prstGeom>
          <a:solidFill>
            <a:srgbClr val="FBE8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0000" rIns="70000" tIns="0" bIns="0" wrap="none"/>
          <a:lstStyle/>
          <a:p>
            <a:pPr algn="ctr"/>
            <a:r>
              <a:rPr sz="1200" b="1">
                <a:solidFill>
                  <a:srgbClr val="D9695A"/>
                </a:solidFill>
                <a:latin typeface="Pretendard"/>
              </a:rPr>
              <a:t>책장 + 매너온도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017520" y="5349240"/>
            <a:ext cx="2194560" cy="457200"/>
          </a:xfrm>
          <a:prstGeom prst="roundRect">
            <a:avLst>
              <a:gd name="adj" fmla="val 50000"/>
            </a:avLst>
          </a:prstGeom>
          <a:solidFill>
            <a:srgbClr val="FBE8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0000" rIns="70000" tIns="0" bIns="0" wrap="none"/>
          <a:lstStyle/>
          <a:p>
            <a:pPr algn="ctr"/>
            <a:r>
              <a:rPr sz="1200" b="1">
                <a:solidFill>
                  <a:srgbClr val="D9695A"/>
                </a:solidFill>
                <a:latin typeface="Pretendard"/>
              </a:rPr>
              <a:t>쿠폰 / FSM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394960" y="5349240"/>
            <a:ext cx="2194560" cy="457200"/>
          </a:xfrm>
          <a:prstGeom prst="roundRect">
            <a:avLst>
              <a:gd name="adj" fmla="val 50000"/>
            </a:avLst>
          </a:prstGeom>
          <a:solidFill>
            <a:srgbClr val="E6EF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0000" rIns="70000" tIns="0" bIns="0" wrap="none"/>
          <a:lstStyle/>
          <a:p>
            <a:pPr algn="ctr"/>
            <a:r>
              <a:rPr sz="1200" b="1">
                <a:solidFill>
                  <a:srgbClr val="2D5F4A"/>
                </a:solidFill>
                <a:latin typeface="Pretendard"/>
              </a:rPr>
              <a:t>OAuth 3종</a:t>
            </a:r>
          </a:p>
        </p:txBody>
      </p:sp>
      <p:pic>
        <p:nvPicPr>
          <p:cNvPr id="14" name="Picture 13" descr="mockup_book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0" y="2560320"/>
            <a:ext cx="2096561" cy="402336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365760" y="27432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>
                <a:solidFill>
                  <a:srgbClr val="94A099"/>
                </a:solidFill>
                <a:latin typeface="Pretendard"/>
              </a:rPr>
              <a:t>책장비움  ·  EmptyBook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247120" y="6492240"/>
            <a:ext cx="822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>
                <a:solidFill>
                  <a:srgbClr val="94A099"/>
                </a:solidFill>
                <a:latin typeface="Pretendard"/>
              </a:rPr>
              <a:t>03 / 16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10972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D9695A"/>
                </a:solidFill>
                <a:latin typeface="Pretendard"/>
              </a:rPr>
              <a:t>03  ·  DEMO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51560"/>
            <a:ext cx="100584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3600" b="1">
                <a:solidFill>
                  <a:srgbClr val="1A2620"/>
                </a:solidFill>
                <a:latin typeface="Pretendard"/>
              </a:rPr>
              <a:t>메인 데모 1 — 홈 피드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82880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>
                <a:solidFill>
                  <a:srgbClr val="5C6B63"/>
                </a:solidFill>
                <a:latin typeface="Pretendard"/>
              </a:rPr>
              <a:t>/home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2331720"/>
            <a:ext cx="914400" cy="25400"/>
          </a:xfrm>
          <a:prstGeom prst="rect">
            <a:avLst/>
          </a:prstGeom>
          <a:solidFill>
            <a:srgbClr val="D969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mockup_ho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78240" y="2560320"/>
            <a:ext cx="2096561" cy="40233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0080" y="2788920"/>
            <a:ext cx="6858000" cy="365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1600" b="0">
                <a:solidFill>
                  <a:srgbClr val="1A2620"/>
                </a:solidFill>
                <a:latin typeface="Pretendard"/>
              </a:rPr>
              <a:t>·  위치 칩 → 자치구 단위 동네 필터 (GPS + Haversine)</a:t>
            </a:r>
          </a:p>
          <a:p>
            <a:pPr algn="l">
              <a:lnSpc>
                <a:spcPct val="155000"/>
              </a:lnSpc>
            </a:pPr>
            <a:r>
              <a:rPr sz="1600" b="0">
                <a:solidFill>
                  <a:srgbClr val="1A2620"/>
                </a:solidFill>
                <a:latin typeface="Pretendard"/>
              </a:rPr>
              <a:t>·  통합 검색 바 + 이벤트 배너 (가로 스냅 스크롤)</a:t>
            </a:r>
          </a:p>
          <a:p>
            <a:pPr algn="l">
              <a:lnSpc>
                <a:spcPct val="155000"/>
              </a:lnSpc>
            </a:pPr>
            <a:r>
              <a:rPr sz="1600" b="0">
                <a:solidFill>
                  <a:srgbClr val="1A2620"/>
                </a:solidFill>
                <a:latin typeface="Pretendard"/>
              </a:rPr>
              <a:t>·  카테고리 칩 → 카테고리별 검색 결과로 prefetch</a:t>
            </a:r>
          </a:p>
          <a:p>
            <a:pPr algn="l">
              <a:lnSpc>
                <a:spcPct val="155000"/>
              </a:lnSpc>
            </a:pPr>
            <a:r>
              <a:rPr sz="1600" b="0">
                <a:solidFill>
                  <a:srgbClr val="1A2620"/>
                </a:solidFill>
                <a:latin typeface="Pretendard"/>
              </a:rPr>
              <a:t>·  내 책장 위젯 → /mypage/shelf 바로가기</a:t>
            </a:r>
          </a:p>
          <a:p>
            <a:pPr algn="l">
              <a:lnSpc>
                <a:spcPct val="155000"/>
              </a:lnSpc>
            </a:pPr>
            <a:r>
              <a:rPr sz="1600" b="0">
                <a:solidFill>
                  <a:srgbClr val="1A2620"/>
                </a:solidFill>
                <a:latin typeface="Pretendard"/>
              </a:rPr>
              <a:t>·  무한 피드 (React Query infinite query)</a:t>
            </a:r>
          </a:p>
          <a:p>
            <a:pPr algn="l">
              <a:lnSpc>
                <a:spcPct val="155000"/>
              </a:lnSpc>
            </a:pPr>
            <a:r>
              <a:rPr sz="1600" b="0">
                <a:solidFill>
                  <a:srgbClr val="1A2620"/>
                </a:solidFill>
                <a:latin typeface="Pretendard"/>
              </a:rPr>
              <a:t>·  하단 5탭 + 중앙 FAB (글쓰기)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27432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>
                <a:solidFill>
                  <a:srgbClr val="94A099"/>
                </a:solidFill>
                <a:latin typeface="Pretendard"/>
              </a:rPr>
              <a:t>책장비움  ·  EmptyBook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47120" y="6492240"/>
            <a:ext cx="822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>
                <a:solidFill>
                  <a:srgbClr val="94A099"/>
                </a:solidFill>
                <a:latin typeface="Pretendard"/>
              </a:rPr>
              <a:t>04 / 16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10972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D9695A"/>
                </a:solidFill>
                <a:latin typeface="Pretendard"/>
              </a:rPr>
              <a:t>04  ·  DEMO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51560"/>
            <a:ext cx="100584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3600" b="1">
                <a:solidFill>
                  <a:srgbClr val="1A2620"/>
                </a:solidFill>
                <a:latin typeface="Pretendard"/>
              </a:rPr>
              <a:t>메인 데모 2 — 검색 + 도서 상세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82880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>
                <a:solidFill>
                  <a:srgbClr val="5C6B63"/>
                </a:solidFill>
                <a:latin typeface="Pretendard"/>
              </a:rPr>
              <a:t>/search   ·   /books/[id]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2331720"/>
            <a:ext cx="914400" cy="25400"/>
          </a:xfrm>
          <a:prstGeom prst="rect">
            <a:avLst/>
          </a:prstGeom>
          <a:solidFill>
            <a:srgbClr val="D969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mockup_searc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80960" y="2560320"/>
            <a:ext cx="2096561" cy="4023360"/>
          </a:xfrm>
          <a:prstGeom prst="rect">
            <a:avLst/>
          </a:prstGeom>
        </p:spPr>
      </p:pic>
      <p:pic>
        <p:nvPicPr>
          <p:cNvPr id="8" name="Picture 7" descr="mockup_book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21240" y="2560320"/>
            <a:ext cx="2096561" cy="40233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40080" y="2788920"/>
            <a:ext cx="6858000" cy="365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1600" b="0">
                <a:solidFill>
                  <a:srgbClr val="1A2620"/>
                </a:solidFill>
                <a:latin typeface="Pretendard"/>
              </a:rPr>
              <a:t>·  검색: 최근 검색어 / 베스트셀러(알라딘 API) / 카테고리</a:t>
            </a:r>
          </a:p>
          <a:p>
            <a:pPr algn="l">
              <a:lnSpc>
                <a:spcPct val="155000"/>
              </a:lnSpc>
            </a:pPr>
            <a:r>
              <a:rPr sz="1600" b="0">
                <a:solidFill>
                  <a:srgbClr val="1A2620"/>
                </a:solidFill>
                <a:latin typeface="Pretendard"/>
              </a:rPr>
              <a:t>·  필터 BottomSheet: 가격대 · 거래방식 · 카테고리</a:t>
            </a:r>
          </a:p>
          <a:p>
            <a:pPr algn="l">
              <a:lnSpc>
                <a:spcPct val="155000"/>
              </a:lnSpc>
            </a:pPr>
            <a:r>
              <a:rPr sz="1600" b="0">
                <a:solidFill>
                  <a:srgbClr val="1A2620"/>
                </a:solidFill>
                <a:latin typeface="Pretendard"/>
              </a:rPr>
              <a:t>·  ilike wildcard 안전 처리 (% _ \ 이스케이프)</a:t>
            </a:r>
          </a:p>
          <a:p>
            <a:pPr algn="l">
              <a:lnSpc>
                <a:spcPct val="155000"/>
              </a:lnSpc>
            </a:pPr>
            <a:r>
              <a:rPr sz="1600" b="0">
                <a:solidFill>
                  <a:srgbClr val="1A2620"/>
                </a:solidFill>
                <a:latin typeface="Pretendard"/>
              </a:rPr>
              <a:t/>
            </a:r>
          </a:p>
          <a:p>
            <a:pPr algn="l">
              <a:lnSpc>
                <a:spcPct val="155000"/>
              </a:lnSpc>
            </a:pPr>
            <a:r>
              <a:rPr sz="1600" b="0">
                <a:solidFill>
                  <a:srgbClr val="1A2620"/>
                </a:solidFill>
                <a:latin typeface="Pretendard"/>
              </a:rPr>
              <a:t>·  상세: ImageCarousel (첫 슬라이드 = coverUrl 우선)</a:t>
            </a:r>
          </a:p>
          <a:p>
            <a:pPr algn="l">
              <a:lnSpc>
                <a:spcPct val="155000"/>
              </a:lnSpc>
            </a:pPr>
            <a:r>
              <a:rPr sz="1600" b="0">
                <a:solidFill>
                  <a:srgbClr val="1A2620"/>
                </a:solidFill>
                <a:latin typeface="Pretendard"/>
              </a:rPr>
              <a:t>·  매너온도 + 거래/평점 라이브 카운트</a:t>
            </a:r>
          </a:p>
          <a:p>
            <a:pPr algn="l">
              <a:lnSpc>
                <a:spcPct val="155000"/>
              </a:lnSpc>
            </a:pPr>
            <a:r>
              <a:rPr sz="1600" b="0">
                <a:solidFill>
                  <a:srgbClr val="1A2620"/>
                </a:solidFill>
                <a:latin typeface="Pretendard"/>
              </a:rPr>
              <a:t>·  스티키 CTA: 찜 / 채팅 / 구매하기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27432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>
                <a:solidFill>
                  <a:srgbClr val="94A099"/>
                </a:solidFill>
                <a:latin typeface="Pretendard"/>
              </a:rPr>
              <a:t>책장비움  ·  EmptyBook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47120" y="6492240"/>
            <a:ext cx="822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>
                <a:solidFill>
                  <a:srgbClr val="94A099"/>
                </a:solidFill>
                <a:latin typeface="Pretendard"/>
              </a:rPr>
              <a:t>05 / 16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10972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D9695A"/>
                </a:solidFill>
                <a:latin typeface="Pretendard"/>
              </a:rPr>
              <a:t>05  ·  DEMO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51560"/>
            <a:ext cx="100584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3600" b="1">
                <a:solidFill>
                  <a:srgbClr val="1A2620"/>
                </a:solidFill>
                <a:latin typeface="Pretendard"/>
              </a:rPr>
              <a:t>메인 데모 3 — 도서 등록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82880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>
                <a:solidFill>
                  <a:srgbClr val="5C6B63"/>
                </a:solidFill>
                <a:latin typeface="Pretendard"/>
              </a:rPr>
              <a:t>/register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2331720"/>
            <a:ext cx="914400" cy="25400"/>
          </a:xfrm>
          <a:prstGeom prst="rect">
            <a:avLst/>
          </a:prstGeom>
          <a:solidFill>
            <a:srgbClr val="D969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mockup_regis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78240" y="2560320"/>
            <a:ext cx="2096561" cy="40233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0080" y="2788920"/>
            <a:ext cx="6858000" cy="365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1600" b="0">
                <a:solidFill>
                  <a:srgbClr val="1A2620"/>
                </a:solidFill>
                <a:latin typeface="Pretendard"/>
              </a:rPr>
              <a:t>·  바코드 스캐너로 ISBN → 네이버 책 API 자동 채움</a:t>
            </a:r>
          </a:p>
          <a:p>
            <a:pPr algn="l">
              <a:lnSpc>
                <a:spcPct val="155000"/>
              </a:lnSpc>
            </a:pPr>
            <a:r>
              <a:rPr sz="1600" b="0">
                <a:solidFill>
                  <a:srgbClr val="1A2620"/>
                </a:solidFill>
                <a:latin typeface="Pretendard"/>
              </a:rPr>
              <a:t>·  표지 + 본문 사진 최대 10장 (Supabase Storage 업로드)</a:t>
            </a:r>
          </a:p>
          <a:p>
            <a:pPr algn="l">
              <a:lnSpc>
                <a:spcPct val="155000"/>
              </a:lnSpc>
            </a:pPr>
            <a:r>
              <a:rPr sz="1600" b="0">
                <a:solidFill>
                  <a:srgbClr val="1A2620"/>
                </a:solidFill>
                <a:latin typeface="Pretendard"/>
              </a:rPr>
              <a:t>·  도서 상태 체크리스트 → A+ ~ C 자동 등급</a:t>
            </a:r>
          </a:p>
          <a:p>
            <a:pPr algn="l">
              <a:lnSpc>
                <a:spcPct val="155000"/>
              </a:lnSpc>
            </a:pPr>
            <a:r>
              <a:rPr sz="1600" b="0">
                <a:solidFill>
                  <a:srgbClr val="1A2620"/>
                </a:solidFill>
                <a:latin typeface="Pretendard"/>
              </a:rPr>
              <a:t>·  무료나눔 토글 (가격 자동 0원)</a:t>
            </a:r>
          </a:p>
          <a:p>
            <a:pPr algn="l">
              <a:lnSpc>
                <a:spcPct val="155000"/>
              </a:lnSpc>
            </a:pPr>
            <a:r>
              <a:rPr sz="1600" b="0">
                <a:solidFill>
                  <a:srgbClr val="1A2620"/>
                </a:solidFill>
                <a:latin typeface="Pretendard"/>
              </a:rPr>
              <a:t>·  거래 방식: 직거래 / 택배 / 둘 다</a:t>
            </a:r>
          </a:p>
          <a:p>
            <a:pPr algn="l">
              <a:lnSpc>
                <a:spcPct val="155000"/>
              </a:lnSpc>
            </a:pPr>
            <a:r>
              <a:rPr sz="1600" b="0">
                <a:solidFill>
                  <a:srgbClr val="1A2620"/>
                </a:solidFill>
                <a:latin typeface="Pretendard"/>
              </a:rPr>
              <a:t>·  ISBN 체크섬 검증 + 한글 IME Enter 가드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27432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>
                <a:solidFill>
                  <a:srgbClr val="94A099"/>
                </a:solidFill>
                <a:latin typeface="Pretendard"/>
              </a:rPr>
              <a:t>책장비움  ·  EmptyBook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47120" y="6492240"/>
            <a:ext cx="822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>
                <a:solidFill>
                  <a:srgbClr val="94A099"/>
                </a:solidFill>
                <a:latin typeface="Pretendard"/>
              </a:rPr>
              <a:t>06 / 16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10972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D9695A"/>
                </a:solidFill>
                <a:latin typeface="Pretendard"/>
              </a:rPr>
              <a:t>06  ·  DEMO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51560"/>
            <a:ext cx="100584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3600" b="1">
                <a:solidFill>
                  <a:srgbClr val="1A2620"/>
                </a:solidFill>
                <a:latin typeface="Pretendard"/>
              </a:rPr>
              <a:t>메인 데모 4 — 실시간 채팅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82880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>
                <a:solidFill>
                  <a:srgbClr val="5C6B63"/>
                </a:solidFill>
                <a:latin typeface="Pretendard"/>
              </a:rPr>
              <a:t>/chat   ·   /chat/[id]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2331720"/>
            <a:ext cx="914400" cy="25400"/>
          </a:xfrm>
          <a:prstGeom prst="rect">
            <a:avLst/>
          </a:prstGeom>
          <a:solidFill>
            <a:srgbClr val="D969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mockup_cha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80960" y="2560320"/>
            <a:ext cx="2096561" cy="4023360"/>
          </a:xfrm>
          <a:prstGeom prst="rect">
            <a:avLst/>
          </a:prstGeom>
        </p:spPr>
      </p:pic>
      <p:pic>
        <p:nvPicPr>
          <p:cNvPr id="8" name="Picture 7" descr="mockup_chat_detai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21240" y="2560320"/>
            <a:ext cx="2096561" cy="40233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40080" y="2788920"/>
            <a:ext cx="6858000" cy="365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1600" b="0">
                <a:solidFill>
                  <a:srgbClr val="1A2620"/>
                </a:solidFill>
                <a:latin typeface="Pretendard"/>
              </a:rPr>
              <a:t>·  Supabase Realtime 구독 — 새 메시지 즉시 반영</a:t>
            </a:r>
          </a:p>
          <a:p>
            <a:pPr algn="l">
              <a:lnSpc>
                <a:spcPct val="155000"/>
              </a:lnSpc>
            </a:pPr>
            <a:r>
              <a:rPr sz="1600" b="0">
                <a:solidFill>
                  <a:srgbClr val="1A2620"/>
                </a:solidFill>
                <a:latin typeface="Pretendard"/>
              </a:rPr>
              <a:t>·  채팅 목록 필터 (전체 / 구매 / 판매)</a:t>
            </a:r>
          </a:p>
          <a:p>
            <a:pPr algn="l">
              <a:lnSpc>
                <a:spcPct val="155000"/>
              </a:lnSpc>
            </a:pPr>
            <a:r>
              <a:rPr sz="1600" b="0">
                <a:solidFill>
                  <a:srgbClr val="1A2620"/>
                </a:solidFill>
                <a:latin typeface="Pretendard"/>
              </a:rPr>
              <a:t>·  거래 액션 바: 가격 변경 / 거래 확정</a:t>
            </a:r>
          </a:p>
          <a:p>
            <a:pPr algn="l">
              <a:lnSpc>
                <a:spcPct val="155000"/>
              </a:lnSpc>
            </a:pPr>
            <a:r>
              <a:rPr sz="1600" b="0">
                <a:solidFill>
                  <a:srgbClr val="1A2620"/>
                </a:solidFill>
                <a:latin typeface="Pretendard"/>
              </a:rPr>
              <a:t>·  시스템 메시지 (예약 / 결제 / 거래완료 알림)</a:t>
            </a:r>
          </a:p>
          <a:p>
            <a:pPr algn="l">
              <a:lnSpc>
                <a:spcPct val="155000"/>
              </a:lnSpc>
            </a:pPr>
            <a:r>
              <a:rPr sz="1600" b="0">
                <a:solidFill>
                  <a:srgbClr val="1A2620"/>
                </a:solidFill>
                <a:latin typeface="Pretendard"/>
              </a:rPr>
              <a:t>·  안 읽은 메시지 read_at 갱신 (0007 RLS)</a:t>
            </a:r>
          </a:p>
          <a:p>
            <a:pPr algn="l">
              <a:lnSpc>
                <a:spcPct val="155000"/>
              </a:lnSpc>
            </a:pPr>
            <a:r>
              <a:rPr sz="1600" b="0">
                <a:solidFill>
                  <a:srgbClr val="1A2620"/>
                </a:solidFill>
                <a:latin typeface="Pretendard"/>
              </a:rPr>
              <a:t>·  Strict Mode 더블 마운트 가드 (random topic suffix)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27432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>
                <a:solidFill>
                  <a:srgbClr val="94A099"/>
                </a:solidFill>
                <a:latin typeface="Pretendard"/>
              </a:rPr>
              <a:t>책장비움  ·  EmptyBook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47120" y="6492240"/>
            <a:ext cx="822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>
                <a:solidFill>
                  <a:srgbClr val="94A099"/>
                </a:solidFill>
                <a:latin typeface="Pretendard"/>
              </a:rPr>
              <a:t>07 / 16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10972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D9695A"/>
                </a:solidFill>
                <a:latin typeface="Pretendard"/>
              </a:rPr>
              <a:t>07  ·  DEMO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51560"/>
            <a:ext cx="100584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3600" b="1">
                <a:solidFill>
                  <a:srgbClr val="1A2620"/>
                </a:solidFill>
                <a:latin typeface="Pretendard"/>
              </a:rPr>
              <a:t>메인 데모 5 — 마이페이지 + 책장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82880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>
                <a:solidFill>
                  <a:srgbClr val="5C6B63"/>
                </a:solidFill>
                <a:latin typeface="Pretendard"/>
              </a:rPr>
              <a:t>/mypage   ·   /mypage/shelf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2331720"/>
            <a:ext cx="914400" cy="25400"/>
          </a:xfrm>
          <a:prstGeom prst="rect">
            <a:avLst/>
          </a:prstGeom>
          <a:solidFill>
            <a:srgbClr val="D969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mockup_myp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80960" y="2560320"/>
            <a:ext cx="2096561" cy="4023360"/>
          </a:xfrm>
          <a:prstGeom prst="rect">
            <a:avLst/>
          </a:prstGeom>
        </p:spPr>
      </p:pic>
      <p:pic>
        <p:nvPicPr>
          <p:cNvPr id="8" name="Picture 7" descr="mockup_shel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21240" y="2560320"/>
            <a:ext cx="2096561" cy="40233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40080" y="2788920"/>
            <a:ext cx="6858000" cy="365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1600" b="0">
                <a:solidFill>
                  <a:srgbClr val="1A2620"/>
                </a:solidFill>
                <a:latin typeface="Pretendard"/>
              </a:rPr>
              <a:t>·  매너온도 위젯 + 거래 카운트 / 평점 라이브 캐시</a:t>
            </a:r>
          </a:p>
          <a:p>
            <a:pPr algn="l">
              <a:lnSpc>
                <a:spcPct val="155000"/>
              </a:lnSpc>
            </a:pPr>
            <a:r>
              <a:rPr sz="1600" b="0">
                <a:solidFill>
                  <a:srgbClr val="1A2620"/>
                </a:solidFill>
                <a:latin typeface="Pretendard"/>
              </a:rPr>
              <a:t>·  2x2 통계 카드 (판매중 / 구매 / 찜 / 최근 본)</a:t>
            </a:r>
          </a:p>
          <a:p>
            <a:pPr algn="l">
              <a:lnSpc>
                <a:spcPct val="155000"/>
              </a:lnSpc>
            </a:pPr>
            <a:r>
              <a:rPr sz="1600" b="0">
                <a:solidFill>
                  <a:srgbClr val="1A2620"/>
                </a:solidFill>
                <a:latin typeface="Pretendard"/>
              </a:rPr>
              <a:t>·  내 책장 — 읽는 중 / 완독 / 판매중 / 소장</a:t>
            </a:r>
          </a:p>
          <a:p>
            <a:pPr algn="l">
              <a:lnSpc>
                <a:spcPct val="155000"/>
              </a:lnSpc>
            </a:pPr>
            <a:r>
              <a:rPr sz="1600" b="0">
                <a:solidFill>
                  <a:srgbClr val="1A2620"/>
                </a:solidFill>
                <a:latin typeface="Pretendard"/>
              </a:rPr>
              <a:t>·  책등 BookSpine (절차적 CSS-only) 진열대</a:t>
            </a:r>
          </a:p>
          <a:p>
            <a:pPr algn="l">
              <a:lnSpc>
                <a:spcPct val="155000"/>
              </a:lnSpc>
            </a:pPr>
            <a:r>
              <a:rPr sz="1600" b="0">
                <a:solidFill>
                  <a:srgbClr val="1A2620"/>
                </a:solidFill>
                <a:latin typeface="Pretendard"/>
              </a:rPr>
              <a:t>·  거래완료 시 0014/0016 트리거가 책장 자동 동기화</a:t>
            </a:r>
          </a:p>
          <a:p>
            <a:pPr algn="l">
              <a:lnSpc>
                <a:spcPct val="155000"/>
              </a:lnSpc>
            </a:pPr>
            <a:r>
              <a:rPr sz="1600" b="0">
                <a:solidFill>
                  <a:srgbClr val="1A2620"/>
                </a:solidFill>
                <a:latin typeface="Pretendard"/>
              </a:rPr>
              <a:t>·  쿠폰함 (신규가입 자동 발급 + 시연용 보강)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27432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>
                <a:solidFill>
                  <a:srgbClr val="94A099"/>
                </a:solidFill>
                <a:latin typeface="Pretendard"/>
              </a:rPr>
              <a:t>책장비움  ·  EmptyBook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47120" y="6492240"/>
            <a:ext cx="822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>
                <a:solidFill>
                  <a:srgbClr val="94A099"/>
                </a:solidFill>
                <a:latin typeface="Pretendard"/>
              </a:rPr>
              <a:t>08 / 16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10972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D9695A"/>
                </a:solidFill>
                <a:latin typeface="Pretendard"/>
              </a:rPr>
              <a:t>08  ·  STACK 1/2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51560"/>
            <a:ext cx="100584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3600" b="1">
                <a:solidFill>
                  <a:srgbClr val="1A2620"/>
                </a:solidFill>
                <a:latin typeface="Pretendard"/>
              </a:rPr>
              <a:t>기술 스택 — 프론트엔드 / 테스트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82880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>
                <a:solidFill>
                  <a:srgbClr val="5C6B63"/>
                </a:solidFill>
                <a:latin typeface="Pretendard"/>
              </a:rPr>
              <a:t>Next.js 14 App Router 풀스택 · TypeScript · MUI 6 모바일 퍼스트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2331720"/>
            <a:ext cx="914400" cy="25400"/>
          </a:xfrm>
          <a:prstGeom prst="rect">
            <a:avLst/>
          </a:prstGeom>
          <a:solidFill>
            <a:srgbClr val="D969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40080" y="2743200"/>
            <a:ext cx="2651760" cy="15544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2743200"/>
            <a:ext cx="2651760" cy="91440"/>
          </a:xfrm>
          <a:prstGeom prst="rect">
            <a:avLst/>
          </a:prstGeom>
          <a:solidFill>
            <a:srgbClr val="2D5F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2944368"/>
            <a:ext cx="24688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1A2620"/>
                </a:solidFill>
                <a:latin typeface="Pretendard"/>
              </a:rPr>
              <a:t>Next.js 14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429000"/>
            <a:ext cx="246888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>
                <a:solidFill>
                  <a:srgbClr val="5C6B63"/>
                </a:solidFill>
                <a:latin typeface="Pretendard"/>
              </a:rPr>
              <a:t>App Router · RSC · ISR / SSR / Streaming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74720" y="2743200"/>
            <a:ext cx="2651760" cy="15544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474720" y="2743200"/>
            <a:ext cx="2651760" cy="91440"/>
          </a:xfrm>
          <a:prstGeom prst="rect">
            <a:avLst/>
          </a:prstGeom>
          <a:solidFill>
            <a:srgbClr val="2D5F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57600" y="2944368"/>
            <a:ext cx="24688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1A2620"/>
                </a:solidFill>
                <a:latin typeface="Pretendard"/>
              </a:rPr>
              <a:t>TypeScript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0" y="3429000"/>
            <a:ext cx="246888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>
                <a:solidFill>
                  <a:srgbClr val="5C6B63"/>
                </a:solidFill>
                <a:latin typeface="Pretendard"/>
              </a:rPr>
              <a:t>정적 타입 + Supabase 자동 타입 생성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09360" y="2743200"/>
            <a:ext cx="2651760" cy="15544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09360" y="2743200"/>
            <a:ext cx="2651760" cy="91440"/>
          </a:xfrm>
          <a:prstGeom prst="rect">
            <a:avLst/>
          </a:prstGeom>
          <a:solidFill>
            <a:srgbClr val="2D5F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92240" y="2944368"/>
            <a:ext cx="24688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1A2620"/>
                </a:solidFill>
                <a:latin typeface="Pretendard"/>
              </a:rPr>
              <a:t>MUI 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2240" y="3429000"/>
            <a:ext cx="246888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>
                <a:solidFill>
                  <a:srgbClr val="5C6B63"/>
                </a:solidFill>
                <a:latin typeface="Pretendard"/>
              </a:rPr>
              <a:t>디자인 시스템 + 'lib/theme.ts' 단일 출처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144000" y="2743200"/>
            <a:ext cx="2651760" cy="15544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9144000" y="2743200"/>
            <a:ext cx="2651760" cy="91440"/>
          </a:xfrm>
          <a:prstGeom prst="rect">
            <a:avLst/>
          </a:prstGeom>
          <a:solidFill>
            <a:srgbClr val="2D5F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326880" y="2944368"/>
            <a:ext cx="24688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1A2620"/>
                </a:solidFill>
                <a:latin typeface="Pretendard"/>
              </a:rPr>
              <a:t>React Query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326880" y="3429000"/>
            <a:ext cx="246888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>
                <a:solidFill>
                  <a:srgbClr val="5C6B63"/>
                </a:solidFill>
                <a:latin typeface="Pretendard"/>
              </a:rPr>
              <a:t>서버 상태 / 캐시 / invalidate / infinite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0080" y="4526280"/>
            <a:ext cx="2651760" cy="15544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40080" y="4526280"/>
            <a:ext cx="2651760" cy="91440"/>
          </a:xfrm>
          <a:prstGeom prst="rect">
            <a:avLst/>
          </a:prstGeom>
          <a:solidFill>
            <a:srgbClr val="2D5F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2960" y="4727448"/>
            <a:ext cx="24688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1A2620"/>
                </a:solidFill>
                <a:latin typeface="Pretendard"/>
              </a:rPr>
              <a:t>Zustand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60" y="5212080"/>
            <a:ext cx="246888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>
                <a:solidFill>
                  <a:srgbClr val="5C6B63"/>
                </a:solidFill>
                <a:latin typeface="Pretendard"/>
              </a:rPr>
              <a:t>shelf / region / likes / 최근본 / 알림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474720" y="4526280"/>
            <a:ext cx="2651760" cy="15544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3474720" y="4526280"/>
            <a:ext cx="2651760" cy="91440"/>
          </a:xfrm>
          <a:prstGeom prst="rect">
            <a:avLst/>
          </a:prstGeom>
          <a:solidFill>
            <a:srgbClr val="D969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657600" y="4727448"/>
            <a:ext cx="24688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1A2620"/>
                </a:solidFill>
                <a:latin typeface="Pretendard"/>
              </a:rPr>
              <a:t>Jest + RTL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657600" y="5212080"/>
            <a:ext cx="246888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>
                <a:solidFill>
                  <a:srgbClr val="5C6B63"/>
                </a:solidFill>
                <a:latin typeface="Pretendard"/>
              </a:rPr>
              <a:t>13 suites · 92 tests 회귀 보호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309360" y="4526280"/>
            <a:ext cx="2651760" cy="15544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309360" y="4526280"/>
            <a:ext cx="2651760" cy="91440"/>
          </a:xfrm>
          <a:prstGeom prst="rect">
            <a:avLst/>
          </a:prstGeom>
          <a:solidFill>
            <a:srgbClr val="D969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92240" y="4727448"/>
            <a:ext cx="24688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1A2620"/>
                </a:solidFill>
                <a:latin typeface="Pretendard"/>
              </a:rPr>
              <a:t>@zxing/browser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92240" y="5212080"/>
            <a:ext cx="246888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>
                <a:solidFill>
                  <a:srgbClr val="5C6B63"/>
                </a:solidFill>
                <a:latin typeface="Pretendard"/>
              </a:rPr>
              <a:t>ISBN 바코드 스캐너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144000" y="4526280"/>
            <a:ext cx="2651760" cy="15544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9144000" y="4526280"/>
            <a:ext cx="2651760" cy="91440"/>
          </a:xfrm>
          <a:prstGeom prst="rect">
            <a:avLst/>
          </a:prstGeom>
          <a:solidFill>
            <a:srgbClr val="D969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326880" y="4727448"/>
            <a:ext cx="24688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1A2620"/>
                </a:solidFill>
                <a:latin typeface="Pretendard"/>
              </a:rPr>
              <a:t>Pretendard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326880" y="5212080"/>
            <a:ext cx="246888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>
                <a:solidFill>
                  <a:srgbClr val="5C6B63"/>
                </a:solidFill>
                <a:latin typeface="Pretendard"/>
              </a:rPr>
              <a:t>Variable font (한글 본문 최적화)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65760" y="27432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>
                <a:solidFill>
                  <a:srgbClr val="94A099"/>
                </a:solidFill>
                <a:latin typeface="Pretendard"/>
              </a:rPr>
              <a:t>책장비움  ·  EmptyBook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247120" y="6492240"/>
            <a:ext cx="822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>
                <a:solidFill>
                  <a:srgbClr val="94A099"/>
                </a:solidFill>
                <a:latin typeface="Pretendard"/>
              </a:rPr>
              <a:t>09 / 16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10972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D9695A"/>
                </a:solidFill>
                <a:latin typeface="Pretendard"/>
              </a:rPr>
              <a:t>09  ·  STACK 2/2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51560"/>
            <a:ext cx="100584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3600" b="1">
                <a:solidFill>
                  <a:srgbClr val="1A2620"/>
                </a:solidFill>
                <a:latin typeface="Pretendard"/>
              </a:rPr>
              <a:t>기술 스택 — 백엔드 / 인프라 / 외부 API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82880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>
                <a:solidFill>
                  <a:srgbClr val="5C6B63"/>
                </a:solidFill>
                <a:latin typeface="Pretendard"/>
              </a:rPr>
              <a:t>Supabase 5종(Auth · Postgres · Storage · Realtime · RLS) · Vercel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2331720"/>
            <a:ext cx="914400" cy="25400"/>
          </a:xfrm>
          <a:prstGeom prst="rect">
            <a:avLst/>
          </a:prstGeom>
          <a:solidFill>
            <a:srgbClr val="D969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40080" y="2743200"/>
            <a:ext cx="2651760" cy="15544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2743200"/>
            <a:ext cx="2651760" cy="91440"/>
          </a:xfrm>
          <a:prstGeom prst="rect">
            <a:avLst/>
          </a:prstGeom>
          <a:solidFill>
            <a:srgbClr val="2D5F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2944368"/>
            <a:ext cx="24688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1A2620"/>
                </a:solidFill>
                <a:latin typeface="Pretendard"/>
              </a:rPr>
              <a:t>Supabase Auth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429000"/>
            <a:ext cx="246888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>
                <a:solidFill>
                  <a:srgbClr val="5C6B63"/>
                </a:solidFill>
                <a:latin typeface="Pretendard"/>
              </a:rPr>
              <a:t>이메일 + OAuth (Google · Naver) + 비번/아이디 찾기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74720" y="2743200"/>
            <a:ext cx="2651760" cy="15544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474720" y="2743200"/>
            <a:ext cx="2651760" cy="91440"/>
          </a:xfrm>
          <a:prstGeom prst="rect">
            <a:avLst/>
          </a:prstGeom>
          <a:solidFill>
            <a:srgbClr val="2D5F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57600" y="2944368"/>
            <a:ext cx="24688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1A2620"/>
                </a:solidFill>
                <a:latin typeface="Pretendard"/>
              </a:rPr>
              <a:t>Postgres + RLS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0" y="3429000"/>
            <a:ext cx="246888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>
                <a:solidFill>
                  <a:srgbClr val="5C6B63"/>
                </a:solidFill>
                <a:latin typeface="Pretendard"/>
              </a:rPr>
              <a:t>22 마이그레이션 · 트리거 · FSM · SECURITY DEFINER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09360" y="2743200"/>
            <a:ext cx="2651760" cy="15544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09360" y="2743200"/>
            <a:ext cx="2651760" cy="91440"/>
          </a:xfrm>
          <a:prstGeom prst="rect">
            <a:avLst/>
          </a:prstGeom>
          <a:solidFill>
            <a:srgbClr val="2D5F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92240" y="2944368"/>
            <a:ext cx="24688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1A2620"/>
                </a:solidFill>
                <a:latin typeface="Pretendard"/>
              </a:rPr>
              <a:t>Storage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2240" y="3429000"/>
            <a:ext cx="246888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>
                <a:solidFill>
                  <a:srgbClr val="5C6B63"/>
                </a:solidFill>
                <a:latin typeface="Pretendard"/>
              </a:rPr>
              <a:t>book-images 버킷 (public read · auth upload)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144000" y="2743200"/>
            <a:ext cx="2651760" cy="15544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9144000" y="2743200"/>
            <a:ext cx="2651760" cy="91440"/>
          </a:xfrm>
          <a:prstGeom prst="rect">
            <a:avLst/>
          </a:prstGeom>
          <a:solidFill>
            <a:srgbClr val="2D5F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326880" y="2944368"/>
            <a:ext cx="24688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1A2620"/>
                </a:solidFill>
                <a:latin typeface="Pretendard"/>
              </a:rPr>
              <a:t>Realtime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326880" y="3429000"/>
            <a:ext cx="246888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>
                <a:solidFill>
                  <a:srgbClr val="5C6B63"/>
                </a:solidFill>
                <a:latin typeface="Pretendard"/>
              </a:rPr>
              <a:t>messages · chat_rooms · notifications 구독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0080" y="4526280"/>
            <a:ext cx="2651760" cy="15544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40080" y="4526280"/>
            <a:ext cx="2651760" cy="91440"/>
          </a:xfrm>
          <a:prstGeom prst="rect">
            <a:avLst/>
          </a:prstGeom>
          <a:solidFill>
            <a:srgbClr val="D969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2960" y="4727448"/>
            <a:ext cx="24688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1A2620"/>
                </a:solidFill>
                <a:latin typeface="Pretendard"/>
              </a:rPr>
              <a:t>Vercel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60" y="5212080"/>
            <a:ext cx="246888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>
                <a:solidFill>
                  <a:srgbClr val="5C6B63"/>
                </a:solidFill>
                <a:latin typeface="Pretendard"/>
              </a:rPr>
              <a:t>Edge Middleware · 자동 배포 · OG 이미지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474720" y="4526280"/>
            <a:ext cx="2651760" cy="15544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3474720" y="4526280"/>
            <a:ext cx="2651760" cy="91440"/>
          </a:xfrm>
          <a:prstGeom prst="rect">
            <a:avLst/>
          </a:prstGeom>
          <a:solidFill>
            <a:srgbClr val="D969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657600" y="4727448"/>
            <a:ext cx="24688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1A2620"/>
                </a:solidFill>
                <a:latin typeface="Pretendard"/>
              </a:rPr>
              <a:t>네이버 책 API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657600" y="5212080"/>
            <a:ext cx="246888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>
                <a:solidFill>
                  <a:srgbClr val="5C6B63"/>
                </a:solidFill>
                <a:latin typeface="Pretendard"/>
              </a:rPr>
              <a:t>ISBN 검색 → 표지·저자·출판사 자동 채움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309360" y="4526280"/>
            <a:ext cx="2651760" cy="15544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309360" y="4526280"/>
            <a:ext cx="2651760" cy="91440"/>
          </a:xfrm>
          <a:prstGeom prst="rect">
            <a:avLst/>
          </a:prstGeom>
          <a:solidFill>
            <a:srgbClr val="D969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92240" y="4727448"/>
            <a:ext cx="24688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1A2620"/>
                </a:solidFill>
                <a:latin typeface="Pretendard"/>
              </a:rPr>
              <a:t>알라딘 OpenAPI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92240" y="5212080"/>
            <a:ext cx="246888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>
                <a:solidFill>
                  <a:srgbClr val="5C6B63"/>
                </a:solidFill>
                <a:latin typeface="Pretendard"/>
              </a:rPr>
              <a:t>베스트셀러 (검색 페이지 인기 섹션)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144000" y="4526280"/>
            <a:ext cx="2651760" cy="15544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9144000" y="4526280"/>
            <a:ext cx="2651760" cy="91440"/>
          </a:xfrm>
          <a:prstGeom prst="rect">
            <a:avLst/>
          </a:prstGeom>
          <a:solidFill>
            <a:srgbClr val="D969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326880" y="4727448"/>
            <a:ext cx="24688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1A2620"/>
                </a:solidFill>
                <a:latin typeface="Pretendard"/>
              </a:rPr>
              <a:t>네이버 OAuth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326880" y="5212080"/>
            <a:ext cx="246888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>
                <a:solidFill>
                  <a:srgbClr val="5C6B63"/>
                </a:solidFill>
                <a:latin typeface="Pretendard"/>
              </a:rPr>
              <a:t>Supabase 미지원 → admin.generateLink 커스텀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65760" y="27432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>
                <a:solidFill>
                  <a:srgbClr val="94A099"/>
                </a:solidFill>
                <a:latin typeface="Pretendard"/>
              </a:rPr>
              <a:t>책장비움  ·  EmptyBook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247120" y="6492240"/>
            <a:ext cx="822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>
                <a:solidFill>
                  <a:srgbClr val="94A099"/>
                </a:solidFill>
                <a:latin typeface="Pretendard"/>
              </a:rPr>
              <a:t>10 / 16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10972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D9695A"/>
                </a:solidFill>
                <a:latin typeface="Pretendard"/>
              </a:rPr>
              <a:t>10  ·  ARCH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51560"/>
            <a:ext cx="100584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3600" b="1">
                <a:solidFill>
                  <a:srgbClr val="1A2620"/>
                </a:solidFill>
                <a:latin typeface="Pretendard"/>
              </a:rPr>
              <a:t>아키텍처 다이어그램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82880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>
                <a:solidFill>
                  <a:srgbClr val="5C6B63"/>
                </a:solidFill>
                <a:latin typeface="Pretendard"/>
              </a:rPr>
              <a:t>lib/repo.ts 가 Supabase ↔ Mock 자동 분기. 페이지는 항상 같은 API.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2331720"/>
            <a:ext cx="914400" cy="25400"/>
          </a:xfrm>
          <a:prstGeom prst="rect">
            <a:avLst/>
          </a:prstGeom>
          <a:solidFill>
            <a:srgbClr val="D969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40080" y="2834640"/>
            <a:ext cx="3017520" cy="3383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E8E3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97180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2D5F4A"/>
                </a:solidFill>
                <a:latin typeface="Pretendard"/>
              </a:rPr>
              <a:t>Client (Next.js)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3383280"/>
            <a:ext cx="2743200" cy="274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150" b="0">
                <a:solidFill>
                  <a:srgbClr val="1A2620"/>
                </a:solidFill>
                <a:latin typeface="Pretendard"/>
              </a:rPr>
              <a:t>•  app/  (RSC + 'use client')</a:t>
            </a:r>
          </a:p>
          <a:p>
            <a:pPr algn="l">
              <a:lnSpc>
                <a:spcPct val="150000"/>
              </a:lnSpc>
            </a:pPr>
            <a:r>
              <a:rPr sz="1150" b="0">
                <a:solidFill>
                  <a:srgbClr val="1A2620"/>
                </a:solidFill>
                <a:latin typeface="Pretendard"/>
              </a:rPr>
              <a:t>•  components/ui/  공용</a:t>
            </a:r>
          </a:p>
          <a:p>
            <a:pPr algn="l">
              <a:lnSpc>
                <a:spcPct val="150000"/>
              </a:lnSpc>
            </a:pPr>
            <a:r>
              <a:rPr sz="1150" b="0">
                <a:solidFill>
                  <a:srgbClr val="1A2620"/>
                </a:solidFill>
                <a:latin typeface="Pretendard"/>
              </a:rPr>
              <a:t>•  lib/query/  React Query</a:t>
            </a:r>
          </a:p>
          <a:p>
            <a:pPr algn="l">
              <a:lnSpc>
                <a:spcPct val="150000"/>
              </a:lnSpc>
            </a:pPr>
            <a:r>
              <a:rPr sz="1150" b="0">
                <a:solidFill>
                  <a:srgbClr val="1A2620"/>
                </a:solidFill>
                <a:latin typeface="Pretendard"/>
              </a:rPr>
              <a:t>•  lib/store/   Zustand</a:t>
            </a:r>
          </a:p>
          <a:p>
            <a:pPr algn="l">
              <a:lnSpc>
                <a:spcPct val="150000"/>
              </a:lnSpc>
            </a:pPr>
            <a:r>
              <a:rPr sz="1150" b="0">
                <a:solidFill>
                  <a:srgbClr val="1A2620"/>
                </a:solidFill>
                <a:latin typeface="Pretendard"/>
              </a:rPr>
              <a:t>•  lib/realtime/ subs</a:t>
            </a:r>
          </a:p>
          <a:p>
            <a:pPr algn="l">
              <a:lnSpc>
                <a:spcPct val="150000"/>
              </a:lnSpc>
            </a:pPr>
            <a:r>
              <a:rPr sz="1150" b="0">
                <a:solidFill>
                  <a:srgbClr val="1A2620"/>
                </a:solidFill>
                <a:latin typeface="Pretendard"/>
              </a:rPr>
              <a:t>•  lib/auth/AuthProvider</a:t>
            </a:r>
          </a:p>
          <a:p>
            <a:pPr algn="l">
              <a:lnSpc>
                <a:spcPct val="150000"/>
              </a:lnSpc>
            </a:pPr>
            <a:r>
              <a:rPr sz="1150" b="0">
                <a:solidFill>
                  <a:srgbClr val="1A2620"/>
                </a:solidFill>
                <a:latin typeface="Pretendard"/>
              </a:rPr>
              <a:t>•  middleware.ts (가드)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931920" y="2834640"/>
            <a:ext cx="2743200" cy="3383280"/>
          </a:xfrm>
          <a:prstGeom prst="roundRect">
            <a:avLst>
              <a:gd name="adj" fmla="val 5000"/>
            </a:avLst>
          </a:prstGeom>
          <a:solidFill>
            <a:srgbClr val="2D5F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069080" y="2971800"/>
            <a:ext cx="2468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FFFFFF"/>
                </a:solidFill>
                <a:latin typeface="Pretendard"/>
              </a:rPr>
              <a:t>lib/repo.ts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069080" y="3383280"/>
            <a:ext cx="2468880" cy="274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100" b="0">
                <a:solidFill>
                  <a:srgbClr val="FFFFFF"/>
                </a:solidFill>
                <a:latin typeface="Pretendard"/>
              </a:rPr>
              <a:t>isSupabaseConfigured?</a:t>
            </a:r>
          </a:p>
          <a:p>
            <a:pPr algn="l">
              <a:lnSpc>
                <a:spcPct val="145000"/>
              </a:lnSpc>
            </a:pPr>
            <a:r>
              <a:rPr sz="1100" b="0">
                <a:solidFill>
                  <a:srgbClr val="FFFFFF"/>
                </a:solidFill>
                <a:latin typeface="Pretendard"/>
              </a:rPr>
              <a:t>+ user 존재?</a:t>
            </a:r>
          </a:p>
          <a:p>
            <a:pPr algn="l">
              <a:lnSpc>
                <a:spcPct val="145000"/>
              </a:lnSpc>
            </a:pPr>
            <a:r>
              <a:rPr sz="1100" b="0">
                <a:solidFill>
                  <a:srgbClr val="FFFFFF"/>
                </a:solidFill>
                <a:latin typeface="Pretendard"/>
              </a:rPr>
              <a:t>+ query result 존재?</a:t>
            </a:r>
          </a:p>
          <a:p>
            <a:pPr algn="l">
              <a:lnSpc>
                <a:spcPct val="145000"/>
              </a:lnSpc>
            </a:pPr>
            <a:r>
              <a:rPr sz="1100" b="0">
                <a:solidFill>
                  <a:srgbClr val="FFFFFF"/>
                </a:solidFill>
                <a:latin typeface="Pretendard"/>
              </a:rPr>
              <a:t/>
            </a:r>
          </a:p>
          <a:p>
            <a:pPr algn="l">
              <a:lnSpc>
                <a:spcPct val="145000"/>
              </a:lnSpc>
            </a:pPr>
            <a:r>
              <a:rPr sz="1100" b="0">
                <a:solidFill>
                  <a:srgbClr val="FFFFFF"/>
                </a:solidFill>
                <a:latin typeface="Pretendard"/>
              </a:rPr>
              <a:t>→ Supabase 호출</a:t>
            </a:r>
          </a:p>
          <a:p>
            <a:pPr algn="l">
              <a:lnSpc>
                <a:spcPct val="145000"/>
              </a:lnSpc>
            </a:pPr>
            <a:r>
              <a:rPr sz="1100" b="0">
                <a:solidFill>
                  <a:srgbClr val="FFFFFF"/>
                </a:solidFill>
                <a:latin typeface="Pretendard"/>
              </a:rPr>
              <a:t>↓ 실패 시</a:t>
            </a:r>
          </a:p>
          <a:p>
            <a:pPr algn="l">
              <a:lnSpc>
                <a:spcPct val="145000"/>
              </a:lnSpc>
            </a:pPr>
            <a:r>
              <a:rPr sz="1100" b="0">
                <a:solidFill>
                  <a:srgbClr val="FFFFFF"/>
                </a:solidFill>
                <a:latin typeface="Pretendard"/>
              </a:rPr>
              <a:t>→ mockData fallback</a:t>
            </a:r>
          </a:p>
          <a:p>
            <a:pPr algn="l">
              <a:lnSpc>
                <a:spcPct val="145000"/>
              </a:lnSpc>
            </a:pPr>
            <a:r>
              <a:rPr sz="1100" b="0">
                <a:solidFill>
                  <a:srgbClr val="FFFFFF"/>
                </a:solidFill>
                <a:latin typeface="Pretendard"/>
              </a:rPr>
              <a:t/>
            </a:r>
          </a:p>
          <a:p>
            <a:pPr algn="l">
              <a:lnSpc>
                <a:spcPct val="145000"/>
              </a:lnSpc>
            </a:pPr>
            <a:r>
              <a:rPr sz="1100" b="0">
                <a:solidFill>
                  <a:srgbClr val="FFFFFF"/>
                </a:solidFill>
                <a:latin typeface="Pretendard"/>
              </a:rPr>
              <a:t>isUuid() 가드로</a:t>
            </a:r>
          </a:p>
          <a:p>
            <a:pPr algn="l">
              <a:lnSpc>
                <a:spcPct val="145000"/>
              </a:lnSpc>
            </a:pPr>
            <a:r>
              <a:rPr sz="1100" b="0">
                <a:solidFill>
                  <a:srgbClr val="FFFFFF"/>
                </a:solidFill>
                <a:latin typeface="Pretendard"/>
              </a:rPr>
              <a:t>비-UUID id 는 mock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949440" y="2834640"/>
            <a:ext cx="2377440" cy="3383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E8E3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086600" y="2971800"/>
            <a:ext cx="2194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2D5F4A"/>
                </a:solidFill>
                <a:latin typeface="Pretendard"/>
              </a:rPr>
              <a:t>Supabase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86600" y="3383280"/>
            <a:ext cx="2194560" cy="274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150" b="0">
                <a:solidFill>
                  <a:srgbClr val="1A2620"/>
                </a:solidFill>
                <a:latin typeface="Pretendard"/>
              </a:rPr>
              <a:t>•  Auth (3 providers)</a:t>
            </a:r>
          </a:p>
          <a:p>
            <a:pPr algn="l">
              <a:lnSpc>
                <a:spcPct val="150000"/>
              </a:lnSpc>
            </a:pPr>
            <a:r>
              <a:rPr sz="1150" b="0">
                <a:solidFill>
                  <a:srgbClr val="1A2620"/>
                </a:solidFill>
                <a:latin typeface="Pretendard"/>
              </a:rPr>
              <a:t>•  Postgres + RLS</a:t>
            </a:r>
          </a:p>
          <a:p>
            <a:pPr algn="l">
              <a:lnSpc>
                <a:spcPct val="150000"/>
              </a:lnSpc>
            </a:pPr>
            <a:r>
              <a:rPr sz="1150" b="0">
                <a:solidFill>
                  <a:srgbClr val="1A2620"/>
                </a:solidFill>
                <a:latin typeface="Pretendard"/>
              </a:rPr>
              <a:t>•  Storage (book-images)</a:t>
            </a:r>
          </a:p>
          <a:p>
            <a:pPr algn="l">
              <a:lnSpc>
                <a:spcPct val="150000"/>
              </a:lnSpc>
            </a:pPr>
            <a:r>
              <a:rPr sz="1150" b="0">
                <a:solidFill>
                  <a:srgbClr val="1A2620"/>
                </a:solidFill>
                <a:latin typeface="Pretendard"/>
              </a:rPr>
              <a:t>•  Realtime</a:t>
            </a:r>
          </a:p>
          <a:p>
            <a:pPr algn="l">
              <a:lnSpc>
                <a:spcPct val="150000"/>
              </a:lnSpc>
            </a:pPr>
            <a:r>
              <a:rPr sz="1150" b="0">
                <a:solidFill>
                  <a:srgbClr val="1A2620"/>
                </a:solidFill>
                <a:latin typeface="Pretendard"/>
              </a:rPr>
              <a:t>•  Edge SQL</a:t>
            </a:r>
          </a:p>
          <a:p>
            <a:pPr algn="l">
              <a:lnSpc>
                <a:spcPct val="150000"/>
              </a:lnSpc>
            </a:pPr>
            <a:r>
              <a:rPr sz="1150" b="0">
                <a:solidFill>
                  <a:srgbClr val="1A2620"/>
                </a:solidFill>
                <a:latin typeface="Pretendard"/>
              </a:rPr>
              <a:t/>
            </a:r>
          </a:p>
          <a:p>
            <a:pPr algn="l">
              <a:lnSpc>
                <a:spcPct val="150000"/>
              </a:lnSpc>
            </a:pPr>
            <a:r>
              <a:rPr sz="1150" b="0">
                <a:solidFill>
                  <a:srgbClr val="1A2620"/>
                </a:solidFill>
                <a:latin typeface="Pretendard"/>
              </a:rPr>
              <a:t>22 migrations,</a:t>
            </a:r>
          </a:p>
          <a:p>
            <a:pPr algn="l">
              <a:lnSpc>
                <a:spcPct val="150000"/>
              </a:lnSpc>
            </a:pPr>
            <a:r>
              <a:rPr sz="1150" b="0">
                <a:solidFill>
                  <a:srgbClr val="1A2620"/>
                </a:solidFill>
                <a:latin typeface="Pretendard"/>
              </a:rPr>
              <a:t>트리거 / FSM / RPC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601200" y="2834640"/>
            <a:ext cx="1920240" cy="3383280"/>
          </a:xfrm>
          <a:prstGeom prst="roundRect">
            <a:avLst>
              <a:gd name="adj" fmla="val 5000"/>
            </a:avLst>
          </a:prstGeom>
          <a:solidFill>
            <a:srgbClr val="FBE8E2"/>
          </a:solidFill>
          <a:ln w="6350">
            <a:solidFill>
              <a:srgbClr val="D969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738360" y="2971800"/>
            <a:ext cx="1737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D9695A"/>
                </a:solidFill>
                <a:latin typeface="Pretendard"/>
              </a:rPr>
              <a:t>Mock Store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738360" y="3383280"/>
            <a:ext cx="1737360" cy="274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150" b="0">
                <a:solidFill>
                  <a:srgbClr val="1A2620"/>
                </a:solidFill>
                <a:latin typeface="Pretendard"/>
              </a:rPr>
              <a:t>•  globalThis 보관</a:t>
            </a:r>
          </a:p>
          <a:p>
            <a:pPr algn="l">
              <a:lnSpc>
                <a:spcPct val="150000"/>
              </a:lnSpc>
            </a:pPr>
            <a:r>
              <a:rPr sz="1150" b="0">
                <a:solidFill>
                  <a:srgbClr val="1A2620"/>
                </a:solidFill>
                <a:latin typeface="Pretendard"/>
              </a:rPr>
              <a:t>•  in-memory</a:t>
            </a:r>
          </a:p>
          <a:p>
            <a:pPr algn="l">
              <a:lnSpc>
                <a:spcPct val="150000"/>
              </a:lnSpc>
            </a:pPr>
            <a:r>
              <a:rPr sz="1150" b="0">
                <a:solidFill>
                  <a:srgbClr val="1A2620"/>
                </a:solidFill>
                <a:latin typeface="Pretendard"/>
              </a:rPr>
              <a:t>•  발표/시연용</a:t>
            </a:r>
          </a:p>
          <a:p>
            <a:pPr algn="l">
              <a:lnSpc>
                <a:spcPct val="150000"/>
              </a:lnSpc>
            </a:pPr>
            <a:r>
              <a:rPr sz="1150" b="0">
                <a:solidFill>
                  <a:srgbClr val="1A2620"/>
                </a:solidFill>
                <a:latin typeface="Pretendard"/>
              </a:rPr>
              <a:t>•  env 없어도</a:t>
            </a:r>
          </a:p>
          <a:p>
            <a:pPr algn="l">
              <a:lnSpc>
                <a:spcPct val="150000"/>
              </a:lnSpc>
            </a:pPr>
            <a:r>
              <a:rPr sz="1150" b="0">
                <a:solidFill>
                  <a:srgbClr val="1A2620"/>
                </a:solidFill>
                <a:latin typeface="Pretendard"/>
              </a:rPr>
              <a:t>   모든 화면 동작</a:t>
            </a:r>
          </a:p>
          <a:p>
            <a:pPr algn="l">
              <a:lnSpc>
                <a:spcPct val="150000"/>
              </a:lnSpc>
            </a:pPr>
            <a:r>
              <a:rPr sz="1150" b="0">
                <a:solidFill>
                  <a:srgbClr val="1A2620"/>
                </a:solidFill>
                <a:latin typeface="Pretendard"/>
              </a:rPr>
              <a:t>•  재시작 시 reset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640080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0">
                <a:solidFill>
                  <a:srgbClr val="94A099"/>
                </a:solidFill>
                <a:latin typeface="Pretendard"/>
              </a:rPr>
              <a:t>외부 API: 네이버 책 검색 · 네이버 OAuth · 알라딘 베스트셀러   (서버 라우트 /api/* 에서만 호출)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27432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>
                <a:solidFill>
                  <a:srgbClr val="94A099"/>
                </a:solidFill>
                <a:latin typeface="Pretendard"/>
              </a:rPr>
              <a:t>책장비움  ·  EmptyBook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247120" y="6492240"/>
            <a:ext cx="822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>
                <a:solidFill>
                  <a:srgbClr val="94A099"/>
                </a:solidFill>
                <a:latin typeface="Pretendard"/>
              </a:rPr>
              <a:t>11 / 16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10972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D9695A"/>
                </a:solidFill>
                <a:latin typeface="Pretendard"/>
              </a:rPr>
              <a:t>11  ·  SCOPE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51560"/>
            <a:ext cx="100584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3600" b="1">
                <a:solidFill>
                  <a:srgbClr val="1A2620"/>
                </a:solidFill>
                <a:latin typeface="Pretendard"/>
              </a:rPr>
              <a:t>구현 범위 — 실제 동작 vs Mock UI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82880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>
                <a:solidFill>
                  <a:srgbClr val="5C6B63"/>
                </a:solidFill>
                <a:latin typeface="Pretendard"/>
              </a:rPr>
              <a:t>보이는 흐름의 거의 모든 백엔드 로직은 실제로 돌아간다.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2331720"/>
            <a:ext cx="914400" cy="25400"/>
          </a:xfrm>
          <a:prstGeom prst="rect">
            <a:avLst/>
          </a:prstGeom>
          <a:solidFill>
            <a:srgbClr val="D969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40080" y="2743200"/>
            <a:ext cx="5577840" cy="3657600"/>
          </a:xfrm>
          <a:prstGeom prst="roundRect">
            <a:avLst>
              <a:gd name="adj" fmla="val 4000"/>
            </a:avLst>
          </a:prstGeom>
          <a:solidFill>
            <a:srgbClr val="F1F6F3"/>
          </a:solidFill>
          <a:ln w="6350">
            <a:solidFill>
              <a:srgbClr val="2D5F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288036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2D5F4A"/>
                </a:solidFill>
                <a:latin typeface="Pretendard"/>
              </a:rPr>
              <a:t>✓  실제 동작 (production-ready)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3291840"/>
            <a:ext cx="5212080" cy="3108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>
                <a:solidFill>
                  <a:srgbClr val="1A2620"/>
                </a:solidFill>
                <a:latin typeface="Pretendard"/>
              </a:rPr>
              <a:t>•  Supabase Auth — 이메일 + 구글 + 네이버 (PKCE)</a:t>
            </a:r>
          </a:p>
          <a:p>
            <a:pPr algn="l">
              <a:lnSpc>
                <a:spcPct val="140000"/>
              </a:lnSpc>
            </a:pPr>
            <a:r>
              <a:rPr sz="1200" b="0">
                <a:solidFill>
                  <a:srgbClr val="1A2620"/>
                </a:solidFill>
                <a:latin typeface="Pretendard"/>
              </a:rPr>
              <a:t>•  Postgres + RLS 22 마이그레이션</a:t>
            </a:r>
          </a:p>
          <a:p>
            <a:pPr algn="l">
              <a:lnSpc>
                <a:spcPct val="140000"/>
              </a:lnSpc>
            </a:pPr>
            <a:r>
              <a:rPr sz="1200" b="0">
                <a:solidFill>
                  <a:srgbClr val="1A2620"/>
                </a:solidFill>
                <a:latin typeface="Pretendard"/>
              </a:rPr>
              <a:t>•  트리거: 좋아요 / 평점 / 거래 / 책장 / 알림 자동</a:t>
            </a:r>
          </a:p>
          <a:p>
            <a:pPr algn="l">
              <a:lnSpc>
                <a:spcPct val="140000"/>
              </a:lnSpc>
            </a:pPr>
            <a:r>
              <a:rPr sz="1200" b="0">
                <a:solidFill>
                  <a:srgbClr val="1A2620"/>
                </a:solidFill>
                <a:latin typeface="Pretendard"/>
              </a:rPr>
              <a:t>•  Realtime: 메시지 · 채팅방 · 알림 구독</a:t>
            </a:r>
          </a:p>
          <a:p>
            <a:pPr algn="l">
              <a:lnSpc>
                <a:spcPct val="140000"/>
              </a:lnSpc>
            </a:pPr>
            <a:r>
              <a:rPr sz="1200" b="0">
                <a:solidFill>
                  <a:srgbClr val="1A2620"/>
                </a:solidFill>
                <a:latin typeface="Pretendard"/>
              </a:rPr>
              <a:t>•  Storage: 도서 이미지 업로드 (책당 최대 10장)</a:t>
            </a:r>
          </a:p>
          <a:p>
            <a:pPr algn="l">
              <a:lnSpc>
                <a:spcPct val="140000"/>
              </a:lnSpc>
            </a:pPr>
            <a:r>
              <a:rPr sz="1200" b="0">
                <a:solidFill>
                  <a:srgbClr val="1A2620"/>
                </a:solidFill>
                <a:latin typeface="Pretendard"/>
              </a:rPr>
              <a:t>•  거래 FSM: PAID → COMPLETED, buyer 만 확정</a:t>
            </a:r>
          </a:p>
          <a:p>
            <a:pPr algn="l">
              <a:lnSpc>
                <a:spcPct val="140000"/>
              </a:lnSpc>
            </a:pPr>
            <a:r>
              <a:rPr sz="1200" b="0">
                <a:solidFill>
                  <a:srgbClr val="1A2620"/>
                </a:solidFill>
                <a:latin typeface="Pretendard"/>
              </a:rPr>
              <a:t>•  쿠폰 시스템: 신규가입 자동 발급 + 만료 RPC</a:t>
            </a:r>
          </a:p>
          <a:p>
            <a:pPr algn="l">
              <a:lnSpc>
                <a:spcPct val="140000"/>
              </a:lnSpc>
            </a:pPr>
            <a:r>
              <a:rPr sz="1200" b="0">
                <a:solidFill>
                  <a:srgbClr val="1A2620"/>
                </a:solidFill>
                <a:latin typeface="Pretendard"/>
              </a:rPr>
              <a:t>•  ISBN 검증 / 네이버 책 검색 / 알라딘 베스트셀러</a:t>
            </a:r>
          </a:p>
          <a:p>
            <a:pPr algn="l">
              <a:lnSpc>
                <a:spcPct val="140000"/>
              </a:lnSpc>
            </a:pPr>
            <a:r>
              <a:rPr sz="1200" b="0">
                <a:solidFill>
                  <a:srgbClr val="1A2620"/>
                </a:solidFill>
                <a:latin typeface="Pretendard"/>
              </a:rPr>
              <a:t>•  Jest 회귀 13 suites · 92 tests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0" y="2743200"/>
            <a:ext cx="5212080" cy="3657600"/>
          </a:xfrm>
          <a:prstGeom prst="roundRect">
            <a:avLst>
              <a:gd name="adj" fmla="val 4000"/>
            </a:avLst>
          </a:prstGeom>
          <a:solidFill>
            <a:srgbClr val="FBE8E2"/>
          </a:solidFill>
          <a:ln w="6350">
            <a:solidFill>
              <a:srgbClr val="D969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29400" y="2880360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D9695A"/>
                </a:solidFill>
                <a:latin typeface="Pretendard"/>
              </a:rPr>
              <a:t>✗  Mock UI / 미구현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29400" y="3291840"/>
            <a:ext cx="4846320" cy="3108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>
                <a:solidFill>
                  <a:srgbClr val="1A2620"/>
                </a:solidFill>
                <a:latin typeface="Pretendard"/>
              </a:rPr>
              <a:t>•  결제 PG 연동 — Mock UI 만, FSM 은 실제</a:t>
            </a:r>
          </a:p>
          <a:p>
            <a:pPr algn="l">
              <a:lnSpc>
                <a:spcPct val="140000"/>
              </a:lnSpc>
            </a:pPr>
            <a:r>
              <a:rPr sz="1200" b="0">
                <a:solidFill>
                  <a:srgbClr val="1A2620"/>
                </a:solidFill>
                <a:latin typeface="Pretendard"/>
              </a:rPr>
              <a:t>•  카카오 OAuth — 비즈니스앱 미전환</a:t>
            </a:r>
          </a:p>
          <a:p>
            <a:pPr algn="l">
              <a:lnSpc>
                <a:spcPct val="140000"/>
              </a:lnSpc>
            </a:pPr>
            <a:r>
              <a:rPr sz="1200" b="0">
                <a:solidFill>
                  <a:srgbClr val="1A2620"/>
                </a:solidFill>
                <a:latin typeface="Pretendard"/>
              </a:rPr>
              <a:t>    (코드는 살아있음, KAKAO_DISABLED 플래그)</a:t>
            </a:r>
          </a:p>
          <a:p>
            <a:pPr algn="l">
              <a:lnSpc>
                <a:spcPct val="140000"/>
              </a:lnSpc>
            </a:pPr>
            <a:r>
              <a:rPr sz="1200" b="0">
                <a:solidFill>
                  <a:srgbClr val="1A2620"/>
                </a:solidFill>
                <a:latin typeface="Pretendard"/>
              </a:rPr>
              <a:t>•  푸시 알림 (FCM/Web Push) — 영구 보류</a:t>
            </a:r>
          </a:p>
          <a:p>
            <a:pPr algn="l">
              <a:lnSpc>
                <a:spcPct val="140000"/>
              </a:lnSpc>
            </a:pPr>
            <a:r>
              <a:rPr sz="1200" b="0">
                <a:solidFill>
                  <a:srgbClr val="1A2620"/>
                </a:solidFill>
                <a:latin typeface="Pretendard"/>
              </a:rPr>
              <a:t>    (인앱 Realtime 으로 충분)</a:t>
            </a:r>
          </a:p>
          <a:p>
            <a:pPr algn="l">
              <a:lnSpc>
                <a:spcPct val="140000"/>
              </a:lnSpc>
            </a:pPr>
            <a:r>
              <a:rPr sz="1200" b="0">
                <a:solidFill>
                  <a:srgbClr val="1A2620"/>
                </a:solidFill>
                <a:latin typeface="Pretendard"/>
              </a:rPr>
              <a:t>•  본인 인증 SDK (SMS OTP/PASS) — placeholder</a:t>
            </a:r>
          </a:p>
          <a:p>
            <a:pPr algn="l">
              <a:lnSpc>
                <a:spcPct val="140000"/>
              </a:lnSpc>
            </a:pPr>
            <a:r>
              <a:rPr sz="1200" b="0">
                <a:solidFill>
                  <a:srgbClr val="1A2620"/>
                </a:solidFill>
                <a:latin typeface="Pretendard"/>
              </a:rPr>
              <a:t>•  공지 CMS — 정적 staticContent.ts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27432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>
                <a:solidFill>
                  <a:srgbClr val="94A099"/>
                </a:solidFill>
                <a:latin typeface="Pretendard"/>
              </a:rPr>
              <a:t>책장비움  ·  EmptyBook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247120" y="6492240"/>
            <a:ext cx="822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>
                <a:solidFill>
                  <a:srgbClr val="94A099"/>
                </a:solidFill>
                <a:latin typeface="Pretendard"/>
              </a:rPr>
              <a:t>12 / 16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10972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D9695A"/>
                </a:solidFill>
                <a:latin typeface="Pretendard"/>
              </a:rPr>
              <a:t>12  · 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51560"/>
            <a:ext cx="100584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3600" b="1">
                <a:solidFill>
                  <a:srgbClr val="1A2620"/>
                </a:solidFill>
                <a:latin typeface="Pretendard"/>
              </a:rPr>
              <a:t>엔지니어링 + 도메인 디테일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82880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>
                <a:solidFill>
                  <a:srgbClr val="5C6B63"/>
                </a:solidFill>
                <a:latin typeface="Pretendard"/>
              </a:rPr>
              <a:t>단순 거래앱이 아닌, '독서 기록 + 거래' 통합 + Mock 자동 폴백.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2331720"/>
            <a:ext cx="914400" cy="25400"/>
          </a:xfrm>
          <a:prstGeom prst="rect">
            <a:avLst/>
          </a:prstGeom>
          <a:solidFill>
            <a:srgbClr val="D969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40080" y="2743200"/>
            <a:ext cx="5440680" cy="16916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E8E3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2743200"/>
            <a:ext cx="164592" cy="1691640"/>
          </a:xfrm>
          <a:prstGeom prst="rect">
            <a:avLst/>
          </a:prstGeom>
          <a:solidFill>
            <a:srgbClr val="2D5F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907792"/>
            <a:ext cx="4937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2D5F4A"/>
                </a:solidFill>
                <a:latin typeface="Pretendard"/>
              </a:rPr>
              <a:t>Mock 자동 폴백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3291840"/>
            <a:ext cx="493776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50" b="0">
                <a:solidFill>
                  <a:srgbClr val="1A2620"/>
                </a:solidFill>
                <a:latin typeface="Pretendard"/>
              </a:rPr>
              <a:t>환경변수 0개로도 모든 화면이 in-memory 로 동작.</a:t>
            </a:r>
          </a:p>
          <a:p>
            <a:pPr algn="l">
              <a:lnSpc>
                <a:spcPct val="140000"/>
              </a:lnSpc>
            </a:pPr>
            <a:r>
              <a:rPr sz="1150" b="0">
                <a:solidFill>
                  <a:srgbClr val="1A2620"/>
                </a:solidFill>
                <a:latin typeface="Pretendard"/>
              </a:rPr>
              <a:t>lib/repo.ts 의 isSupabaseConfigured/isUuid 분기.</a:t>
            </a:r>
          </a:p>
          <a:p>
            <a:pPr algn="l">
              <a:lnSpc>
                <a:spcPct val="140000"/>
              </a:lnSpc>
            </a:pPr>
            <a:r>
              <a:rPr sz="1150" b="0">
                <a:solidFill>
                  <a:srgbClr val="1A2620"/>
                </a:solidFill>
                <a:latin typeface="Pretendard"/>
              </a:rPr>
              <a:t>발표·시연 환경에서 무환경 데모 가능.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2743200"/>
            <a:ext cx="5440680" cy="16916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E8E3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63640" y="2743200"/>
            <a:ext cx="164592" cy="1691640"/>
          </a:xfrm>
          <a:prstGeom prst="rect">
            <a:avLst/>
          </a:prstGeom>
          <a:solidFill>
            <a:srgbClr val="2D5F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29400" y="2907792"/>
            <a:ext cx="4937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2D5F4A"/>
                </a:solidFill>
                <a:latin typeface="Pretendard"/>
              </a:rPr>
              <a:t>DB 트리거 동기화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29400" y="3291840"/>
            <a:ext cx="493776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50" b="0">
                <a:solidFill>
                  <a:srgbClr val="1A2620"/>
                </a:solidFill>
                <a:latin typeface="Pretendard"/>
              </a:rPr>
              <a:t>0014/0015/0016 트리거가 거래 완료 시 자동으로</a:t>
            </a:r>
          </a:p>
          <a:p>
            <a:pPr algn="l">
              <a:lnSpc>
                <a:spcPct val="140000"/>
              </a:lnSpc>
            </a:pPr>
            <a:r>
              <a:rPr sz="1150" b="0">
                <a:solidFill>
                  <a:srgbClr val="1A2620"/>
                </a:solidFill>
                <a:latin typeface="Pretendard"/>
              </a:rPr>
              <a:t>book.status = SOLD + buyer.shelf = OWNED 전이.</a:t>
            </a:r>
          </a:p>
          <a:p>
            <a:pPr algn="l">
              <a:lnSpc>
                <a:spcPct val="140000"/>
              </a:lnSpc>
            </a:pPr>
            <a:r>
              <a:rPr sz="1150" b="0">
                <a:solidFill>
                  <a:srgbClr val="1A2620"/>
                </a:solidFill>
                <a:latin typeface="Pretendard"/>
              </a:rPr>
              <a:t>클라이언트 코드 없이 책장↔거래 일관성.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4617720"/>
            <a:ext cx="5440680" cy="16916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E8E3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40080" y="4617720"/>
            <a:ext cx="164592" cy="1691640"/>
          </a:xfrm>
          <a:prstGeom prst="rect">
            <a:avLst/>
          </a:prstGeom>
          <a:solidFill>
            <a:srgbClr val="D969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05840" y="4782312"/>
            <a:ext cx="4937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D9695A"/>
                </a:solidFill>
                <a:latin typeface="Pretendard"/>
              </a:rPr>
              <a:t>책장(shelf_items)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5840" y="5166360"/>
            <a:ext cx="493776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50" b="0">
                <a:solidFill>
                  <a:srgbClr val="1A2620"/>
                </a:solidFill>
                <a:latin typeface="Pretendard"/>
              </a:rPr>
              <a:t>단순 거래 앱이 아닌 '독서 기록' 도메인 통합.</a:t>
            </a:r>
          </a:p>
          <a:p>
            <a:pPr algn="l">
              <a:lnSpc>
                <a:spcPct val="140000"/>
              </a:lnSpc>
            </a:pPr>
            <a:r>
              <a:rPr sz="1150" b="0">
                <a:solidFill>
                  <a:srgbClr val="1A2620"/>
                </a:solidFill>
                <a:latin typeface="Pretendard"/>
              </a:rPr>
              <a:t>읽는 중 / 완독 / 판매중 / 소장 4상태.</a:t>
            </a:r>
          </a:p>
          <a:p>
            <a:pPr algn="l">
              <a:lnSpc>
                <a:spcPct val="140000"/>
              </a:lnSpc>
            </a:pPr>
            <a:r>
              <a:rPr sz="1150" b="0">
                <a:solidFill>
                  <a:srgbClr val="1A2620"/>
                </a:solidFill>
                <a:latin typeface="Pretendard"/>
              </a:rPr>
              <a:t>ISBN 기준 partial unique 로 idempotent.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63640" y="4617720"/>
            <a:ext cx="5440680" cy="16916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E8E3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63640" y="4617720"/>
            <a:ext cx="164592" cy="1691640"/>
          </a:xfrm>
          <a:prstGeom prst="rect">
            <a:avLst/>
          </a:prstGeom>
          <a:solidFill>
            <a:srgbClr val="D969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629400" y="4782312"/>
            <a:ext cx="4937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D9695A"/>
                </a:solidFill>
                <a:latin typeface="Pretendard"/>
              </a:rPr>
              <a:t>매너온도 단일 헬퍼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29400" y="5166360"/>
            <a:ext cx="493776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50" b="0">
                <a:solidFill>
                  <a:srgbClr val="1A2620"/>
                </a:solidFill>
                <a:latin typeface="Pretendard"/>
              </a:rPr>
              <a:t>calcMannerTemperature(tradeCount, rating) 단일</a:t>
            </a:r>
          </a:p>
          <a:p>
            <a:pPr algn="l">
              <a:lnSpc>
                <a:spcPct val="140000"/>
              </a:lnSpc>
            </a:pPr>
            <a:r>
              <a:rPr sz="1150" b="0">
                <a:solidFill>
                  <a:srgbClr val="1A2620"/>
                </a:solidFill>
                <a:latin typeface="Pretendard"/>
              </a:rPr>
              <a:t>공식. SellerCard / 마이페이지 본인 카드가</a:t>
            </a:r>
          </a:p>
          <a:p>
            <a:pPr algn="l">
              <a:lnSpc>
                <a:spcPct val="140000"/>
              </a:lnSpc>
            </a:pPr>
            <a:r>
              <a:rPr sz="1150" b="0">
                <a:solidFill>
                  <a:srgbClr val="1A2620"/>
                </a:solidFill>
                <a:latin typeface="Pretendard"/>
              </a:rPr>
              <a:t>같은 헬퍼를 공유 — 일관성 보장.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" y="27432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>
                <a:solidFill>
                  <a:srgbClr val="94A099"/>
                </a:solidFill>
                <a:latin typeface="Pretendard"/>
              </a:rPr>
              <a:t>책장비움  ·  EmptyBook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247120" y="6492240"/>
            <a:ext cx="822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>
                <a:solidFill>
                  <a:srgbClr val="94A099"/>
                </a:solidFill>
                <a:latin typeface="Pretendard"/>
              </a:rPr>
              <a:t>13 / 16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10972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D9695A"/>
                </a:solidFill>
                <a:latin typeface="Pretendard"/>
              </a:rPr>
              <a:t>13  ·  TEAM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51560"/>
            <a:ext cx="100584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3600" b="1">
                <a:solidFill>
                  <a:srgbClr val="1A2620"/>
                </a:solidFill>
                <a:latin typeface="Pretendard"/>
              </a:rPr>
              <a:t>개발 일정 / 역할 분담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82880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>
                <a:solidFill>
                  <a:srgbClr val="5C6B63"/>
                </a:solidFill>
                <a:latin typeface="Pretendard"/>
              </a:rPr>
              <a:t>약 6주간의 마일스톤 + 3인 역할 (수정 필요)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2331720"/>
            <a:ext cx="914400" cy="25400"/>
          </a:xfrm>
          <a:prstGeom prst="rect">
            <a:avLst/>
          </a:prstGeom>
          <a:solidFill>
            <a:srgbClr val="D969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40080" y="2743200"/>
            <a:ext cx="6949440" cy="3657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6350">
            <a:solidFill>
              <a:srgbClr val="E8E3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288036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2D5F4A"/>
                </a:solidFill>
                <a:latin typeface="Pretendard"/>
              </a:rPr>
              <a:t>마일스톤 (2026-04 ~ 05)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68680" y="3383280"/>
            <a:ext cx="1097280" cy="384048"/>
          </a:xfrm>
          <a:prstGeom prst="roundRect">
            <a:avLst>
              <a:gd name="adj" fmla="val 50000"/>
            </a:avLst>
          </a:prstGeom>
          <a:solidFill>
            <a:srgbClr val="E6EF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0000" rIns="70000" tIns="0" bIns="0" wrap="none"/>
          <a:lstStyle/>
          <a:p>
            <a:pPr algn="ctr"/>
            <a:r>
              <a:rPr sz="1050" b="1">
                <a:solidFill>
                  <a:srgbClr val="2D5F4A"/>
                </a:solidFill>
                <a:latin typeface="Pretendard"/>
              </a:rPr>
              <a:t>Week 1-2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057400" y="3456432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1A2620"/>
                </a:solidFill>
                <a:latin typeface="Pretendard"/>
              </a:rPr>
              <a:t>기획 + 와이어프레임 + MUI 테마 + 5탭 골격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68680" y="3931920"/>
            <a:ext cx="1097280" cy="384048"/>
          </a:xfrm>
          <a:prstGeom prst="roundRect">
            <a:avLst>
              <a:gd name="adj" fmla="val 50000"/>
            </a:avLst>
          </a:prstGeom>
          <a:solidFill>
            <a:srgbClr val="E6EF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0000" rIns="70000" tIns="0" bIns="0" wrap="none"/>
          <a:lstStyle/>
          <a:p>
            <a:pPr algn="ctr"/>
            <a:r>
              <a:rPr sz="1050" b="1">
                <a:solidFill>
                  <a:srgbClr val="2D5F4A"/>
                </a:solidFill>
                <a:latin typeface="Pretendard"/>
              </a:rPr>
              <a:t>Week 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57400" y="4005072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1A2620"/>
                </a:solidFill>
                <a:latin typeface="Pretendard"/>
              </a:rPr>
              <a:t>도서 등록 / 검색 / 상세 + Supabase 연결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68680" y="4480560"/>
            <a:ext cx="1097280" cy="384048"/>
          </a:xfrm>
          <a:prstGeom prst="roundRect">
            <a:avLst>
              <a:gd name="adj" fmla="val 50000"/>
            </a:avLst>
          </a:prstGeom>
          <a:solidFill>
            <a:srgbClr val="E6EF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0000" rIns="70000" tIns="0" bIns="0" wrap="none"/>
          <a:lstStyle/>
          <a:p>
            <a:pPr algn="ctr"/>
            <a:r>
              <a:rPr sz="1050" b="1">
                <a:solidFill>
                  <a:srgbClr val="2D5F4A"/>
                </a:solidFill>
                <a:latin typeface="Pretendard"/>
              </a:rPr>
              <a:t>Week 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057400" y="4553712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1A2620"/>
                </a:solidFill>
                <a:latin typeface="Pretendard"/>
              </a:rPr>
              <a:t>채팅 Realtime + 결제 FSM + 마이페이지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68680" y="5029200"/>
            <a:ext cx="1097280" cy="384048"/>
          </a:xfrm>
          <a:prstGeom prst="roundRect">
            <a:avLst>
              <a:gd name="adj" fmla="val 50000"/>
            </a:avLst>
          </a:prstGeom>
          <a:solidFill>
            <a:srgbClr val="FBE8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0000" rIns="70000" tIns="0" bIns="0" wrap="none"/>
          <a:lstStyle/>
          <a:p>
            <a:pPr algn="ctr"/>
            <a:r>
              <a:rPr sz="1050" b="1">
                <a:solidFill>
                  <a:srgbClr val="D9695A"/>
                </a:solidFill>
                <a:latin typeface="Pretendard"/>
              </a:rPr>
              <a:t>Week 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057400" y="5102352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1A2620"/>
                </a:solidFill>
                <a:latin typeface="Pretendard"/>
              </a:rPr>
              <a:t>책장 + 쿠폰 + OAuth (구글·네이버) + 알림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68680" y="5577840"/>
            <a:ext cx="1097280" cy="384048"/>
          </a:xfrm>
          <a:prstGeom prst="roundRect">
            <a:avLst>
              <a:gd name="adj" fmla="val 50000"/>
            </a:avLst>
          </a:prstGeom>
          <a:solidFill>
            <a:srgbClr val="FBE8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0000" rIns="70000" tIns="0" bIns="0" wrap="none"/>
          <a:lstStyle/>
          <a:p>
            <a:pPr algn="ctr"/>
            <a:r>
              <a:rPr sz="1050" b="1">
                <a:solidFill>
                  <a:srgbClr val="D9695A"/>
                </a:solidFill>
                <a:latin typeface="Pretendard"/>
              </a:rPr>
              <a:t>Week 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057400" y="5650992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1A2620"/>
                </a:solidFill>
                <a:latin typeface="Pretendard"/>
              </a:rPr>
              <a:t>UI v10 모던화 + 성능 + Jest + OG/SEO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772400" y="2788920"/>
            <a:ext cx="3840480" cy="107899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E8E3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955279" y="2880360"/>
            <a:ext cx="1828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D9695A"/>
                </a:solidFill>
                <a:latin typeface="Pretendard"/>
              </a:rPr>
              <a:t>팀원 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55279" y="3154680"/>
            <a:ext cx="3474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1A2620"/>
                </a:solidFill>
                <a:latin typeface="Pretendard"/>
              </a:rPr>
              <a:t>UI / 디자인 시스템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955279" y="3502152"/>
            <a:ext cx="3474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>
                <a:solidFill>
                  <a:srgbClr val="5C6B63"/>
                </a:solidFill>
                <a:latin typeface="Pretendard"/>
              </a:rPr>
              <a:t>MUI 테마 · 공용 컴포넌트 · 모바일 어댑티브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772400" y="3995928"/>
            <a:ext cx="3840480" cy="107899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E8E3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955279" y="4087368"/>
            <a:ext cx="1828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D9695A"/>
                </a:solidFill>
                <a:latin typeface="Pretendard"/>
              </a:rPr>
              <a:t>팀원 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955279" y="4361688"/>
            <a:ext cx="3474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1A2620"/>
                </a:solidFill>
                <a:latin typeface="Pretendard"/>
              </a:rPr>
              <a:t>데이터 / Supabase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955279" y="4709160"/>
            <a:ext cx="3474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>
                <a:solidFill>
                  <a:srgbClr val="5C6B63"/>
                </a:solidFill>
                <a:latin typeface="Pretendard"/>
              </a:rPr>
              <a:t>스키마 · RLS · 마이그레이션 · repo 분기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772400" y="5202936"/>
            <a:ext cx="3840480" cy="107899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E8E3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955279" y="5294376"/>
            <a:ext cx="1828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D9695A"/>
                </a:solidFill>
                <a:latin typeface="Pretendard"/>
              </a:rPr>
              <a:t>팀원 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955279" y="5568696"/>
            <a:ext cx="3474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1A2620"/>
                </a:solidFill>
                <a:latin typeface="Pretendard"/>
              </a:rPr>
              <a:t>인증 / 실시간 / 배포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955279" y="5916168"/>
            <a:ext cx="3474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>
                <a:solidFill>
                  <a:srgbClr val="5C6B63"/>
                </a:solidFill>
                <a:latin typeface="Pretendard"/>
              </a:rPr>
              <a:t>OAuth · Realtime · Vercel · 트러블슈팅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65760" y="27432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>
                <a:solidFill>
                  <a:srgbClr val="94A099"/>
                </a:solidFill>
                <a:latin typeface="Pretendard"/>
              </a:rPr>
              <a:t>책장비움  ·  EmptyBook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247120" y="6492240"/>
            <a:ext cx="822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>
                <a:solidFill>
                  <a:srgbClr val="94A099"/>
                </a:solidFill>
                <a:latin typeface="Pretendard"/>
              </a:rPr>
              <a:t>14 / 16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10972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D9695A"/>
                </a:solidFill>
                <a:latin typeface="Pretendard"/>
              </a:rPr>
              <a:t>14  ·  REFLECTION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51560"/>
            <a:ext cx="100584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3600" b="1">
                <a:solidFill>
                  <a:srgbClr val="1A2620"/>
                </a:solidFill>
                <a:latin typeface="Pretendard"/>
              </a:rPr>
              <a:t>향후 계획 + 소감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82880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>
                <a:solidFill>
                  <a:srgbClr val="5C6B63"/>
                </a:solidFill>
                <a:latin typeface="Pretendard"/>
              </a:rPr>
              <a:t>프로젝트 단계에서 종료 · 정식 출시 X — 그래도 남은 것들.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2331720"/>
            <a:ext cx="914400" cy="25400"/>
          </a:xfrm>
          <a:prstGeom prst="rect">
            <a:avLst/>
          </a:prstGeom>
          <a:solidFill>
            <a:srgbClr val="D969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40080" y="2743200"/>
            <a:ext cx="6858000" cy="3657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926080"/>
            <a:ext cx="4572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5200" b="1">
                <a:solidFill>
                  <a:srgbClr val="D9695A"/>
                </a:solidFill>
                <a:latin typeface="Pretendard"/>
              </a:rPr>
              <a:t>"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520440"/>
            <a:ext cx="6400800" cy="2468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1">
                <a:solidFill>
                  <a:srgbClr val="1A2620"/>
                </a:solidFill>
                <a:latin typeface="Pretendard"/>
              </a:rPr>
              <a:t>단순한 뒤로가기 버튼 하나에도</a:t>
            </a:r>
          </a:p>
          <a:p>
            <a:pPr algn="l">
              <a:lnSpc>
                <a:spcPct val="145000"/>
              </a:lnSpc>
            </a:pPr>
            <a:r>
              <a:rPr sz="2000" b="1">
                <a:solidFill>
                  <a:srgbClr val="1A2620"/>
                </a:solidFill>
                <a:latin typeface="Pretendard"/>
              </a:rPr>
              <a:t>개발자의 의도와 철학이 들어간다는 걸</a:t>
            </a:r>
          </a:p>
          <a:p>
            <a:pPr algn="l">
              <a:lnSpc>
                <a:spcPct val="145000"/>
              </a:lnSpc>
            </a:pPr>
            <a:r>
              <a:rPr sz="2000" b="1">
                <a:solidFill>
                  <a:srgbClr val="1A2620"/>
                </a:solidFill>
                <a:latin typeface="Pretendard"/>
              </a:rPr>
              <a:t>이번 프로젝트로 체감했습니다.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486400"/>
            <a:ext cx="6400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5C6B63"/>
                </a:solidFill>
                <a:latin typeface="Pretendard"/>
              </a:rPr>
              <a:t>— 책장비움 팀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680960" y="2743200"/>
            <a:ext cx="3931920" cy="3657600"/>
          </a:xfrm>
          <a:prstGeom prst="roundRect">
            <a:avLst>
              <a:gd name="adj" fmla="val 4000"/>
            </a:avLst>
          </a:prstGeom>
          <a:solidFill>
            <a:srgbClr val="2D5F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909560" y="2926080"/>
            <a:ext cx="3474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FFFFFF"/>
                </a:solidFill>
                <a:latin typeface="Pretendard"/>
              </a:rPr>
              <a:t>🧠  개발 방식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09560" y="3337560"/>
            <a:ext cx="347472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150" b="0">
                <a:solidFill>
                  <a:srgbClr val="FFFFFF"/>
                </a:solidFill>
                <a:latin typeface="Pretendard"/>
              </a:rPr>
              <a:t>·  Claude Code 바이브 코딩</a:t>
            </a:r>
          </a:p>
          <a:p>
            <a:pPr algn="l">
              <a:lnSpc>
                <a:spcPct val="150000"/>
              </a:lnSpc>
            </a:pPr>
            <a:r>
              <a:rPr sz="1150" b="0">
                <a:solidFill>
                  <a:srgbClr val="FFFFFF"/>
                </a:solidFill>
                <a:latin typeface="Pretendard"/>
              </a:rPr>
              <a:t>·  고급 프롬프팅 / 하네스 ✗</a:t>
            </a:r>
          </a:p>
          <a:p>
            <a:pPr algn="l">
              <a:lnSpc>
                <a:spcPct val="150000"/>
              </a:lnSpc>
            </a:pPr>
            <a:r>
              <a:rPr sz="1150" b="0">
                <a:solidFill>
                  <a:srgbClr val="FFFFFF"/>
                </a:solidFill>
                <a:latin typeface="Pretendard"/>
              </a:rPr>
              <a:t>·  '해줘' 한 마디로 시작</a:t>
            </a:r>
          </a:p>
          <a:p>
            <a:pPr algn="l">
              <a:lnSpc>
                <a:spcPct val="150000"/>
              </a:lnSpc>
            </a:pPr>
            <a:r>
              <a:rPr sz="1150" b="0">
                <a:solidFill>
                  <a:srgbClr val="FFFFFF"/>
                </a:solidFill>
                <a:latin typeface="Pretendard"/>
              </a:rPr>
              <a:t>·  구현 → 테스트 → 수정 반복</a:t>
            </a:r>
          </a:p>
          <a:p>
            <a:pPr algn="l">
              <a:lnSpc>
                <a:spcPct val="150000"/>
              </a:lnSpc>
            </a:pPr>
            <a:r>
              <a:rPr sz="1150" b="0">
                <a:solidFill>
                  <a:srgbClr val="FFFFFF"/>
                </a:solidFill>
                <a:latin typeface="Pretendard"/>
              </a:rPr>
              <a:t>·  CLAUDE.md 에 함정/규칙 누적</a:t>
            </a:r>
          </a:p>
          <a:p>
            <a:pPr algn="l">
              <a:lnSpc>
                <a:spcPct val="150000"/>
              </a:lnSpc>
            </a:pPr>
            <a:r>
              <a:rPr sz="1150" b="0">
                <a:solidFill>
                  <a:srgbClr val="FFFFFF"/>
                </a:solidFill>
                <a:latin typeface="Pretendard"/>
              </a:rPr>
              <a:t>·  메모리 시스템으로 세션 간 연속성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09560" y="5120640"/>
            <a:ext cx="3474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FFFFFF"/>
                </a:solidFill>
                <a:latin typeface="Pretendard"/>
              </a:rPr>
              <a:t>📌  향후 계획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09560" y="5532120"/>
            <a:ext cx="347472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150" b="0">
                <a:solidFill>
                  <a:srgbClr val="FFFFFF"/>
                </a:solidFill>
                <a:latin typeface="Pretendard"/>
              </a:rPr>
              <a:t>·  프로젝트 단계에서 종료</a:t>
            </a:r>
          </a:p>
          <a:p>
            <a:pPr algn="l">
              <a:lnSpc>
                <a:spcPct val="150000"/>
              </a:lnSpc>
            </a:pPr>
            <a:r>
              <a:rPr sz="1150" b="0">
                <a:solidFill>
                  <a:srgbClr val="FFFFFF"/>
                </a:solidFill>
                <a:latin typeface="Pretendard"/>
              </a:rPr>
              <a:t>·  정식 출시 / 상용화 X</a:t>
            </a:r>
          </a:p>
          <a:p>
            <a:pPr algn="l">
              <a:lnSpc>
                <a:spcPct val="150000"/>
              </a:lnSpc>
            </a:pPr>
            <a:r>
              <a:rPr sz="1150" b="0">
                <a:solidFill>
                  <a:srgbClr val="FFFFFF"/>
                </a:solidFill>
                <a:latin typeface="Pretendard"/>
              </a:rPr>
              <a:t>·  포트폴리오 베타 유지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27432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>
                <a:solidFill>
                  <a:srgbClr val="94A099"/>
                </a:solidFill>
                <a:latin typeface="Pretendard"/>
              </a:rPr>
              <a:t>책장비움  ·  EmptyBook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247120" y="6492240"/>
            <a:ext cx="822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>
                <a:solidFill>
                  <a:srgbClr val="94A099"/>
                </a:solidFill>
                <a:latin typeface="Pretendard"/>
              </a:rPr>
              <a:t>15 / 16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D5F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286000"/>
            <a:ext cx="1097280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7200" b="1">
                <a:solidFill>
                  <a:srgbClr val="FFFFFF"/>
                </a:solidFill>
                <a:latin typeface="Pretendard"/>
              </a:rPr>
              <a:t>감사합니다.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347472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2200" b="0">
                <a:solidFill>
                  <a:srgbClr val="FFFFFF"/>
                </a:solidFill>
                <a:latin typeface="Pretendard"/>
              </a:rPr>
              <a:t>Questions &amp; Answers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286000" y="5029200"/>
            <a:ext cx="7589520" cy="10972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560320" y="5166360"/>
            <a:ext cx="7132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1A2620"/>
                </a:solidFill>
                <a:latin typeface="Pretendard"/>
              </a:rPr>
              <a:t>GitHub   ·   github.com/fussycats2/emptybook-app-sandbox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560320" y="5532120"/>
            <a:ext cx="7132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D9695A"/>
                </a:solidFill>
                <a:latin typeface="Pretendard"/>
              </a:rPr>
              <a:t>Live Demo   ·   emptybook-app-sandbox.vercel.app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44652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0">
                <a:solidFill>
                  <a:srgbClr val="FFFFFF"/>
                </a:solidFill>
                <a:latin typeface="Pretendard"/>
              </a:rPr>
              <a:t>책장비움 · EmptyBook  ·  v10  ·  2026.05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492240"/>
            <a:ext cx="822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>
                <a:solidFill>
                  <a:srgbClr val="FFFFFF"/>
                </a:solidFill>
                <a:latin typeface="Pretendard"/>
              </a:rPr>
              <a:t>16 / 16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